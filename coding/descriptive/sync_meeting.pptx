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6858000" cx="12192000"/>
  <p:notesSz cx="6858000" cy="9144000"/>
  <p:embeddedFontLst>
    <p:embeddedFont>
      <p:font typeface="Play"/>
      <p:regular r:id="rId27"/>
      <p:bold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9" roundtripDataSignature="AMtx7miEZQ8iRXvRBBc8pRzEp6S1ZKST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E18CA9E-18DF-4E7E-A78F-584451793852}">
  <a:tblStyle styleId="{3E18CA9E-18DF-4E7E-A78F-584451793852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fill>
          <a:solidFill>
            <a:srgbClr val="CAD1D8"/>
          </a:solidFill>
        </a:fill>
      </a:tcStyle>
    </a:band1H>
    <a:band2H>
      <a:tcTxStyle/>
    </a:band2H>
    <a:band1V>
      <a:tcTxStyle/>
      <a:tcStyle>
        <a:fill>
          <a:solidFill>
            <a:srgbClr val="CAD1D8"/>
          </a:solidFill>
        </a:fill>
      </a:tcStyle>
    </a:band1V>
    <a:band2V>
      <a:tcTxStyle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Play-bold.fntdata"/><Relationship Id="rId27" Type="http://schemas.openxmlformats.org/officeDocument/2006/relationships/font" Target="fonts/Play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8.png"/><Relationship Id="rId6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de-DE"/>
              <a:t>Synchronization Meeting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de-DE"/>
              <a:t>SocEnRep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de-DE"/>
              <a:t>Mon, 08.06.2026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de-DE"/>
              <a:t>Purpose of the meeting</a:t>
            </a:r>
            <a:endParaRPr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de-DE"/>
              <a:t>Get to know each other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de-DE"/>
              <a:t>Overview the divergence in coding Bauer et al (2025)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de-DE"/>
              <a:t>…and changes to the codebook + gform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de-DE"/>
              <a:t>Introduce new decision rules in the codebook v2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de-DE"/>
              <a:t>Most importantly, it affects how to </a:t>
            </a:r>
            <a:r>
              <a:rPr b="1" i="1" lang="de-DE"/>
              <a:t>code the definition of computational reproducibility</a:t>
            </a:r>
            <a:endParaRPr b="1" i="1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de-DE"/>
              <a:t>Answer all questions you have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de-DE"/>
              <a:t>C1. Primary Contribution</a:t>
            </a:r>
            <a:endParaRPr/>
          </a:p>
        </p:txBody>
      </p:sp>
      <p:sp>
        <p:nvSpPr>
          <p:cNvPr id="97" name="Google Shape;97;p3"/>
          <p:cNvSpPr txBox="1"/>
          <p:nvPr>
            <p:ph idx="1" type="body"/>
          </p:nvPr>
        </p:nvSpPr>
        <p:spPr>
          <a:xfrm>
            <a:off x="838200" y="1409436"/>
            <a:ext cx="10515600" cy="6974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de-DE"/>
              <a:t>What is the </a:t>
            </a:r>
            <a:r>
              <a:rPr b="1" lang="de-DE"/>
              <a:t>primary type </a:t>
            </a:r>
            <a:r>
              <a:rPr lang="de-DE"/>
              <a:t>of contribution the paper makes?</a:t>
            </a:r>
            <a:endParaRPr/>
          </a:p>
        </p:txBody>
      </p:sp>
      <p:graphicFrame>
        <p:nvGraphicFramePr>
          <p:cNvPr id="98" name="Google Shape;98;p3"/>
          <p:cNvGraphicFramePr/>
          <p:nvPr/>
        </p:nvGraphicFramePr>
        <p:xfrm>
          <a:off x="1109134" y="207615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{3E18CA9E-18DF-4E7E-A78F-584451793852}</a:tableStyleId>
              </a:tblPr>
              <a:tblGrid>
                <a:gridCol w="3364100"/>
                <a:gridCol w="3364100"/>
                <a:gridCol w="3364100"/>
              </a:tblGrid>
              <a:tr h="28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800" u="none" cap="none" strike="noStrike"/>
                        <a:t>Ineke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800"/>
                        <a:t>Mehtab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800"/>
                        <a:t>Elisabetta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800"/>
                        <a:t>Educational/training resource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de-DE" sz="1800"/>
                        <a:t>Educational/training resource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800"/>
                        <a:t>Guidelines/policy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800"/>
                        <a:t>(but would have also chosen educational/training resource, if multiple answers are allowed)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99" name="Google Shape;99;p3"/>
          <p:cNvSpPr txBox="1"/>
          <p:nvPr/>
        </p:nvSpPr>
        <p:spPr>
          <a:xfrm>
            <a:off x="838200" y="380166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0" i="0" lang="de-DE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C2. Secondary Contribution</a:t>
            </a:r>
            <a:endParaRPr b="0" i="0" sz="44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00" name="Google Shape;100;p3"/>
          <p:cNvSpPr txBox="1"/>
          <p:nvPr/>
        </p:nvSpPr>
        <p:spPr>
          <a:xfrm>
            <a:off x="685800" y="4847377"/>
            <a:ext cx="10515600" cy="6974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de-DE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there a clearly applicable </a:t>
            </a:r>
            <a:r>
              <a:rPr b="1" i="0" lang="de-DE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secondary type</a:t>
            </a:r>
            <a:r>
              <a:rPr b="0" i="0" lang="de-DE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contribution?</a:t>
            </a:r>
            <a:endParaRPr/>
          </a:p>
        </p:txBody>
      </p:sp>
      <p:graphicFrame>
        <p:nvGraphicFramePr>
          <p:cNvPr id="101" name="Google Shape;101;p3"/>
          <p:cNvGraphicFramePr/>
          <p:nvPr/>
        </p:nvGraphicFramePr>
        <p:xfrm>
          <a:off x="1109134" y="554481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{3E18CA9E-18DF-4E7E-A78F-584451793852}</a:tableStyleId>
              </a:tblPr>
              <a:tblGrid>
                <a:gridCol w="2709325"/>
                <a:gridCol w="2709325"/>
                <a:gridCol w="27093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800"/>
                        <a:t>Ineke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800"/>
                        <a:t>Mehtab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800"/>
                        <a:t>Elisabetta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800"/>
                        <a:t>blank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800"/>
                        <a:t>Guidelines/policy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800"/>
                        <a:t>blank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de-DE"/>
              <a:t>C1 &amp; C2: My suggestions</a:t>
            </a:r>
            <a:endParaRPr/>
          </a:p>
        </p:txBody>
      </p:sp>
      <p:sp>
        <p:nvSpPr>
          <p:cNvPr id="107" name="Google Shape;107;p4"/>
          <p:cNvSpPr txBox="1"/>
          <p:nvPr>
            <p:ph idx="1" type="body"/>
          </p:nvPr>
        </p:nvSpPr>
        <p:spPr>
          <a:xfrm>
            <a:off x="838200" y="3200399"/>
            <a:ext cx="10735733" cy="2976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de-DE" sz="2400"/>
              <a:t>In the abstract, it implies the paper is „a guideline“ but </a:t>
            </a:r>
            <a:r>
              <a:rPr b="1" lang="de-DE" sz="2400"/>
              <a:t>it is primarily a teaching resource</a:t>
            </a:r>
            <a:r>
              <a:rPr lang="de-DE" sz="2400"/>
              <a:t>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de-DE" sz="2400"/>
              <a:t>Guideline/policy option is reserved for something more normative/enforced (e.g., a journal, association, institutional, community policy).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de-DE" sz="2000"/>
              <a:t>If the paper is about a university’s policy regarding teaching methods courses, then it falls under the guideline/policy category.</a:t>
            </a:r>
            <a:endParaRPr/>
          </a:p>
        </p:txBody>
      </p:sp>
      <p:pic>
        <p:nvPicPr>
          <p:cNvPr id="108" name="Google Shape;10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199" y="2081513"/>
            <a:ext cx="10789796" cy="6362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de-DE"/>
              <a:t>D1. Reproducibility Definition</a:t>
            </a:r>
            <a:endParaRPr/>
          </a:p>
        </p:txBody>
      </p:sp>
      <p:sp>
        <p:nvSpPr>
          <p:cNvPr id="114" name="Google Shape;114;p5"/>
          <p:cNvSpPr txBox="1"/>
          <p:nvPr>
            <p:ph idx="1" type="body"/>
          </p:nvPr>
        </p:nvSpPr>
        <p:spPr>
          <a:xfrm>
            <a:off x="838200" y="1825625"/>
            <a:ext cx="10515600" cy="8752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de-DE"/>
              <a:t>Does the paper provide a definition of computational reproducibility?</a:t>
            </a:r>
            <a:endParaRPr/>
          </a:p>
        </p:txBody>
      </p:sp>
      <p:graphicFrame>
        <p:nvGraphicFramePr>
          <p:cNvPr id="115" name="Google Shape;115;p5"/>
          <p:cNvGraphicFramePr/>
          <p:nvPr/>
        </p:nvGraphicFramePr>
        <p:xfrm>
          <a:off x="838200" y="317682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{3E18CA9E-18DF-4E7E-A78F-584451793852}</a:tableStyleId>
              </a:tblPr>
              <a:tblGrid>
                <a:gridCol w="3364100"/>
                <a:gridCol w="3364100"/>
                <a:gridCol w="3364100"/>
              </a:tblGrid>
              <a:tr h="28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800"/>
                        <a:t>Ineke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800"/>
                        <a:t>Mehtab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800"/>
                        <a:t>Elisabetta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800"/>
                        <a:t>No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de-DE" sz="1800"/>
                        <a:t>No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800"/>
                        <a:t>No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16" name="Google Shape;116;p5"/>
          <p:cNvSpPr txBox="1"/>
          <p:nvPr/>
        </p:nvSpPr>
        <p:spPr>
          <a:xfrm>
            <a:off x="838200" y="4389385"/>
            <a:ext cx="10515600" cy="8752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de-DE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Your answer is correct and we can see there is a perfect agreement. The paper indeed doesn‘t contain any definition on „computational reproducibility,“ </a:t>
            </a:r>
            <a:r>
              <a:rPr b="1" i="1" lang="de-DE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however</a:t>
            </a:r>
            <a:r>
              <a:rPr b="0" i="0" lang="de-DE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…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de-DE"/>
              <a:t>D1. Reproducibility Definition</a:t>
            </a:r>
            <a:endParaRPr/>
          </a:p>
        </p:txBody>
      </p:sp>
      <p:sp>
        <p:nvSpPr>
          <p:cNvPr id="122" name="Google Shape;122;p6"/>
          <p:cNvSpPr txBox="1"/>
          <p:nvPr>
            <p:ph idx="1" type="body"/>
          </p:nvPr>
        </p:nvSpPr>
        <p:spPr>
          <a:xfrm>
            <a:off x="838200" y="2798745"/>
            <a:ext cx="10515600" cy="3965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de-DE" sz="2400"/>
              <a:t>There is a substantive definition of „reproducibility“ in p. 117, but the authors label it differently – „Analytical Replication“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de-DE" sz="2400"/>
              <a:t>This happens quite often as reproducibility (vs. replication) are conflated in the literature.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de-DE" sz="2400"/>
              <a:t>For this reason, I introduce a new decision rule for this item: „</a:t>
            </a:r>
            <a:r>
              <a:rPr b="1" lang="de-DE" sz="2400">
                <a:solidFill>
                  <a:srgbClr val="FF0000"/>
                </a:solidFill>
              </a:rPr>
              <a:t>code the definition by meaning, not by the label.</a:t>
            </a:r>
            <a:r>
              <a:rPr lang="de-DE" sz="2400"/>
              <a:t>“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de-DE" sz="2400"/>
              <a:t>If the paper states something about reproducing results from the same data and code („</a:t>
            </a:r>
            <a:r>
              <a:rPr b="1" lang="de-DE" sz="2400">
                <a:solidFill>
                  <a:srgbClr val="FF0000"/>
                </a:solidFill>
              </a:rPr>
              <a:t>same data, same code/methods/analysis</a:t>
            </a:r>
            <a:r>
              <a:rPr lang="de-DE" sz="2400"/>
              <a:t>“) counts as the definition of reproducibility, even if the paper calls it „replication.“</a:t>
            </a:r>
            <a:endParaRPr/>
          </a:p>
        </p:txBody>
      </p:sp>
      <p:pic>
        <p:nvPicPr>
          <p:cNvPr id="123" name="Google Shape;12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473182"/>
            <a:ext cx="8555670" cy="9042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de-DE"/>
              <a:t>D1a. Copy-Paste Definition</a:t>
            </a:r>
            <a:endParaRPr/>
          </a:p>
        </p:txBody>
      </p:sp>
      <p:sp>
        <p:nvSpPr>
          <p:cNvPr id="129" name="Google Shape;129;p7"/>
          <p:cNvSpPr txBox="1"/>
          <p:nvPr>
            <p:ph idx="1" type="body"/>
          </p:nvPr>
        </p:nvSpPr>
        <p:spPr>
          <a:xfrm>
            <a:off x="838200" y="3629448"/>
            <a:ext cx="10515600" cy="11631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de-DE"/>
              <a:t>Analytical Replication</a:t>
            </a:r>
            <a:r>
              <a:rPr lang="de-DE"/>
              <a:t>:  “Attempting to computationally reproduce previous findings using the same numerical data” (p. 117).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30" name="Google Shape;130;p7"/>
          <p:cNvSpPr txBox="1"/>
          <p:nvPr/>
        </p:nvSpPr>
        <p:spPr>
          <a:xfrm>
            <a:off x="838200" y="1890395"/>
            <a:ext cx="10515600" cy="17390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de-DE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D1a. if other terms are used to describe computational reproducibility, please state the terms before the definition.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de-DE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de-DE"/>
              <a:t>D2. Contextual Variation</a:t>
            </a:r>
            <a:endParaRPr/>
          </a:p>
        </p:txBody>
      </p:sp>
      <p:sp>
        <p:nvSpPr>
          <p:cNvPr id="136" name="Google Shape;136;p8"/>
          <p:cNvSpPr txBox="1"/>
          <p:nvPr>
            <p:ph idx="1" type="body"/>
          </p:nvPr>
        </p:nvSpPr>
        <p:spPr>
          <a:xfrm>
            <a:off x="838200" y="1825625"/>
            <a:ext cx="10515600" cy="5027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de-DE"/>
              <a:t>D2a. Which types of contextual variation does the paper discuss?</a:t>
            </a:r>
            <a:endParaRPr/>
          </a:p>
        </p:txBody>
      </p:sp>
      <p:graphicFrame>
        <p:nvGraphicFramePr>
          <p:cNvPr id="137" name="Google Shape;137;p8"/>
          <p:cNvGraphicFramePr/>
          <p:nvPr/>
        </p:nvGraphicFramePr>
        <p:xfrm>
          <a:off x="838200" y="2692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{3E18CA9E-18DF-4E7E-A78F-584451793852}</a:tableStyleId>
              </a:tblPr>
              <a:tblGrid>
                <a:gridCol w="3364100"/>
                <a:gridCol w="3364100"/>
                <a:gridCol w="3364100"/>
              </a:tblGrid>
              <a:tr h="28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800"/>
                        <a:t>Ineke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800"/>
                        <a:t>Mehtab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800"/>
                        <a:t>Elisabetta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800"/>
                        <a:t>blank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de-DE" sz="1800"/>
                        <a:t>blank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800"/>
                        <a:t>Study design, License, Programming language or software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38" name="Google Shape;138;p8"/>
          <p:cNvSpPr txBox="1"/>
          <p:nvPr/>
        </p:nvSpPr>
        <p:spPr>
          <a:xfrm>
            <a:off x="626533" y="4336627"/>
            <a:ext cx="10515600" cy="20658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0" i="0" lang="de-DE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 made two mistakes in the Google Forms: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de-DE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form previously stated „if D1 = Yes, complete D2,“ while in fact, </a:t>
            </a:r>
            <a:r>
              <a:rPr b="1" i="1" lang="de-DE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D2 is completely independent from D1</a:t>
            </a:r>
            <a:r>
              <a:rPr b="0" i="0" lang="de-DE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de-DE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According to the codebook, there should have been a D2. „</a:t>
            </a:r>
            <a:r>
              <a:rPr b="0" i="1" lang="de-DE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Does the paper discuss how the meaning or practice of reproducibility varies across different contexts? (Yes/No)</a:t>
            </a:r>
            <a:r>
              <a:rPr b="0" i="0" lang="de-DE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 but </a:t>
            </a:r>
            <a:r>
              <a:rPr b="1" i="1" lang="de-DE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wasn‘t there</a:t>
            </a:r>
            <a:r>
              <a:rPr b="0" i="0" lang="de-DE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de-DE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 of these mistakes have been fixed✅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de-DE"/>
              <a:t>D2. Contextual Variation</a:t>
            </a:r>
            <a:endParaRPr/>
          </a:p>
        </p:txBody>
      </p:sp>
      <p:sp>
        <p:nvSpPr>
          <p:cNvPr id="144" name="Google Shape;144;p9"/>
          <p:cNvSpPr txBox="1"/>
          <p:nvPr>
            <p:ph idx="1" type="body"/>
          </p:nvPr>
        </p:nvSpPr>
        <p:spPr>
          <a:xfrm>
            <a:off x="838200" y="1825625"/>
            <a:ext cx="10515600" cy="5027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de-DE"/>
              <a:t>D2a. Which types of contextual variation does the paper discuss?</a:t>
            </a:r>
            <a:endParaRPr/>
          </a:p>
        </p:txBody>
      </p:sp>
      <p:graphicFrame>
        <p:nvGraphicFramePr>
          <p:cNvPr id="145" name="Google Shape;145;p9"/>
          <p:cNvGraphicFramePr/>
          <p:nvPr/>
        </p:nvGraphicFramePr>
        <p:xfrm>
          <a:off x="838200" y="2692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{3E18CA9E-18DF-4E7E-A78F-584451793852}</a:tableStyleId>
              </a:tblPr>
              <a:tblGrid>
                <a:gridCol w="3364100"/>
                <a:gridCol w="3364100"/>
                <a:gridCol w="3364100"/>
              </a:tblGrid>
              <a:tr h="28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800"/>
                        <a:t>Ineke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800"/>
                        <a:t>Mehtab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800"/>
                        <a:t>Elisabetta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800"/>
                        <a:t>blank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de-DE" sz="1800"/>
                        <a:t>blank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800"/>
                        <a:t>Study design, License, Programming language or software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46" name="Google Shape;146;p9"/>
          <p:cNvSpPr txBox="1"/>
          <p:nvPr/>
        </p:nvSpPr>
        <p:spPr>
          <a:xfrm>
            <a:off x="626533" y="4336627"/>
            <a:ext cx="10515600" cy="20658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de-DE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 also introduce a new decision rule: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de-DE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Code only if the paper clearly says reproducibility </a:t>
            </a:r>
            <a:r>
              <a:rPr b="1" i="0" lang="de-DE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differs across a context</a:t>
            </a:r>
            <a:r>
              <a:rPr b="0" i="0" lang="de-DE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de-DE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Therefore, </a:t>
            </a:r>
            <a:r>
              <a:rPr b="1" i="0" lang="de-DE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only briefly naming a context</a:t>
            </a:r>
            <a:r>
              <a:rPr b="0" i="0" lang="de-DE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(data type, software), </a:t>
            </a:r>
            <a:r>
              <a:rPr b="1" i="1" lang="de-DE" sz="2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without arguing</a:t>
            </a:r>
            <a:r>
              <a:rPr b="0" i="0" lang="de-DE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that reproducibility may depend/be different across these contexts is not contextual variation.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de-DE"/>
              <a:t>E1a. Explicitness of Workflow</a:t>
            </a:r>
            <a:endParaRPr/>
          </a:p>
        </p:txBody>
      </p:sp>
      <p:sp>
        <p:nvSpPr>
          <p:cNvPr id="152" name="Google Shape;152;p10"/>
          <p:cNvSpPr txBox="1"/>
          <p:nvPr>
            <p:ph idx="1" type="body"/>
          </p:nvPr>
        </p:nvSpPr>
        <p:spPr>
          <a:xfrm>
            <a:off x="838200" y="1825625"/>
            <a:ext cx="10515600" cy="5958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de-DE"/>
              <a:t>How explicitly is the workflow or guideline described?</a:t>
            </a:r>
            <a:endParaRPr/>
          </a:p>
        </p:txBody>
      </p:sp>
      <p:graphicFrame>
        <p:nvGraphicFramePr>
          <p:cNvPr id="153" name="Google Shape;153;p10"/>
          <p:cNvGraphicFramePr/>
          <p:nvPr/>
        </p:nvGraphicFramePr>
        <p:xfrm>
          <a:off x="838200" y="2692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{3E18CA9E-18DF-4E7E-A78F-584451793852}</a:tableStyleId>
              </a:tblPr>
              <a:tblGrid>
                <a:gridCol w="3364100"/>
                <a:gridCol w="3364100"/>
                <a:gridCol w="3364100"/>
              </a:tblGrid>
              <a:tr h="28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800"/>
                        <a:t>Ineke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800"/>
                        <a:t>Mehtab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800"/>
                        <a:t>Elisabetta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800"/>
                        <a:t>Narrative (implicit)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de-DE" sz="1800"/>
                        <a:t>Explicit (step-by-step)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de-DE" sz="1800"/>
                        <a:t>Explicit (step-by-step)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de-DE"/>
              <a:t>E1a: My suggestion </a:t>
            </a:r>
            <a:endParaRPr/>
          </a:p>
        </p:txBody>
      </p:sp>
      <p:sp>
        <p:nvSpPr>
          <p:cNvPr id="159" name="Google Shape;159;p11"/>
          <p:cNvSpPr txBox="1"/>
          <p:nvPr>
            <p:ph idx="1" type="body"/>
          </p:nvPr>
        </p:nvSpPr>
        <p:spPr>
          <a:xfrm>
            <a:off x="838199" y="1825625"/>
            <a:ext cx="4622801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de-DE" sz="2400"/>
              <a:t>Explicit (step-by-step), as the authors provide Figure 1 (p. 120).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de-DE" sz="2400"/>
              <a:t>I add a new rule to make it clearer: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de-DE" sz="2400"/>
              <a:t>„A </a:t>
            </a:r>
            <a:r>
              <a:rPr b="1" i="1" lang="de-DE" sz="2400"/>
              <a:t>figure</a:t>
            </a:r>
            <a:r>
              <a:rPr lang="de-DE" sz="2400"/>
              <a:t> or a </a:t>
            </a:r>
            <a:r>
              <a:rPr b="1" i="1" lang="de-DE" sz="2400"/>
              <a:t>table</a:t>
            </a:r>
            <a:r>
              <a:rPr lang="de-DE" sz="2400"/>
              <a:t> with </a:t>
            </a:r>
            <a:r>
              <a:rPr b="1" i="1" lang="de-DE" sz="2400"/>
              <a:t>numbered list</a:t>
            </a:r>
            <a:r>
              <a:rPr lang="de-DE" sz="2400"/>
              <a:t> of </a:t>
            </a:r>
            <a:r>
              <a:rPr b="1" i="1" lang="de-DE" sz="2400"/>
              <a:t>ordered steps</a:t>
            </a:r>
            <a:r>
              <a:rPr lang="de-DE" sz="2400"/>
              <a:t> → Step-by-step, even when the text is narrative“</a:t>
            </a:r>
            <a:endParaRPr/>
          </a:p>
        </p:txBody>
      </p:sp>
      <p:pic>
        <p:nvPicPr>
          <p:cNvPr id="160" name="Google Shape;16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40996" y="1690688"/>
            <a:ext cx="6790008" cy="38103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de-DE"/>
              <a:t>E1b and E1d</a:t>
            </a:r>
            <a:endParaRPr/>
          </a:p>
        </p:txBody>
      </p:sp>
      <p:sp>
        <p:nvSpPr>
          <p:cNvPr id="166" name="Google Shape;166;p12"/>
          <p:cNvSpPr txBox="1"/>
          <p:nvPr>
            <p:ph idx="1" type="body"/>
          </p:nvPr>
        </p:nvSpPr>
        <p:spPr>
          <a:xfrm>
            <a:off x="838199" y="2097087"/>
            <a:ext cx="10515600" cy="5535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de-DE"/>
              <a:t>E1b. What computational environment does the paper </a:t>
            </a:r>
            <a:r>
              <a:rPr b="1" lang="de-DE"/>
              <a:t>focus on</a:t>
            </a:r>
            <a:r>
              <a:rPr lang="de-DE"/>
              <a:t>?</a:t>
            </a:r>
            <a:endParaRPr/>
          </a:p>
        </p:txBody>
      </p:sp>
      <p:graphicFrame>
        <p:nvGraphicFramePr>
          <p:cNvPr id="167" name="Google Shape;167;p12"/>
          <p:cNvGraphicFramePr/>
          <p:nvPr/>
        </p:nvGraphicFramePr>
        <p:xfrm>
          <a:off x="948264" y="283580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{3E18CA9E-18DF-4E7E-A78F-584451793852}</a:tableStyleId>
              </a:tblPr>
              <a:tblGrid>
                <a:gridCol w="3364100"/>
                <a:gridCol w="3364100"/>
                <a:gridCol w="3364100"/>
              </a:tblGrid>
              <a:tr h="28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800"/>
                        <a:t>Ineke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800"/>
                        <a:t>Mehtab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800"/>
                        <a:t>Elisabetta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800"/>
                        <a:t>Multiple approaches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800"/>
                        <a:t>Multiple approaches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800"/>
                        <a:t>Not described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68" name="Google Shape;168;p12"/>
          <p:cNvSpPr txBox="1"/>
          <p:nvPr/>
        </p:nvSpPr>
        <p:spPr>
          <a:xfrm>
            <a:off x="838200" y="4202114"/>
            <a:ext cx="10515600" cy="5535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de-DE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E1d. What data type(s) does the paper </a:t>
            </a:r>
            <a:r>
              <a:rPr b="1" i="0" lang="de-DE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focus on</a:t>
            </a:r>
            <a:r>
              <a:rPr b="0" i="0" lang="de-DE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/>
          </a:p>
        </p:txBody>
      </p:sp>
      <p:graphicFrame>
        <p:nvGraphicFramePr>
          <p:cNvPr id="169" name="Google Shape;169;p12"/>
          <p:cNvGraphicFramePr/>
          <p:nvPr/>
        </p:nvGraphicFramePr>
        <p:xfrm>
          <a:off x="948263" y="491648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{3E18CA9E-18DF-4E7E-A78F-584451793852}</a:tableStyleId>
              </a:tblPr>
              <a:tblGrid>
                <a:gridCol w="3364100"/>
                <a:gridCol w="3364100"/>
                <a:gridCol w="3364100"/>
              </a:tblGrid>
              <a:tr h="28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800"/>
                        <a:t>Ineke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800"/>
                        <a:t>Mehtab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800"/>
                        <a:t>Elisabetta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800"/>
                        <a:t>Multiple approaches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800"/>
                        <a:t>Multiple approaches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800"/>
                        <a:t>Not described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de-DE"/>
              <a:t>My suggestion: E1b and E1d</a:t>
            </a:r>
            <a:endParaRPr/>
          </a:p>
        </p:txBody>
      </p:sp>
      <p:sp>
        <p:nvSpPr>
          <p:cNvPr id="175" name="Google Shape;175;p13"/>
          <p:cNvSpPr txBox="1"/>
          <p:nvPr>
            <p:ph idx="1" type="body"/>
          </p:nvPr>
        </p:nvSpPr>
        <p:spPr>
          <a:xfrm>
            <a:off x="838199" y="1825625"/>
            <a:ext cx="5393267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de-DE" sz="2400"/>
              <a:t>„Not described“ for both</a:t>
            </a:r>
            <a:endParaRPr sz="24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de-DE" sz="2400"/>
              <a:t>Article mentions briefly many things, but doesn‘t mean it focuses on these things</a:t>
            </a:r>
            <a:endParaRPr sz="24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de-DE" sz="2400"/>
              <a:t>I add a new rule: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de-DE" sz="2400"/>
              <a:t>“Code data type/computational environment/programming language </a:t>
            </a:r>
            <a:r>
              <a:rPr b="1" i="1" lang="de-DE" sz="2400" u="sng">
                <a:solidFill>
                  <a:srgbClr val="FF0000"/>
                </a:solidFill>
              </a:rPr>
              <a:t>only when</a:t>
            </a:r>
            <a:r>
              <a:rPr lang="de-DE" sz="2400"/>
              <a:t> the paper actively recommends, adopts, or substantively discusses it”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b="1" lang="de-DE" sz="2400" u="sng">
                <a:solidFill>
                  <a:srgbClr val="FF0000"/>
                </a:solidFill>
              </a:rPr>
              <a:t>Quick test:</a:t>
            </a:r>
            <a:r>
              <a:rPr lang="de-DE" sz="2400"/>
              <a:t> would the option still be true if you deleted that one sentence? </a:t>
            </a:r>
            <a:r>
              <a:rPr b="1" lang="de-DE" sz="2400"/>
              <a:t>If yes, it is a focus</a:t>
            </a:r>
            <a:r>
              <a:rPr lang="de-DE" sz="2400"/>
              <a:t>; if no, it is a brief mention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de-DE" sz="2400"/>
              <a:t>I also deleted “Multiple approaches,” as these are multi-select items.</a:t>
            </a:r>
            <a:endParaRPr sz="2400"/>
          </a:p>
        </p:txBody>
      </p:sp>
      <p:pic>
        <p:nvPicPr>
          <p:cNvPr id="176" name="Google Shape;17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46523" y="1621318"/>
            <a:ext cx="4686954" cy="685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68717" y="2635583"/>
            <a:ext cx="4829849" cy="543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03654" y="3506954"/>
            <a:ext cx="4686954" cy="866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68717" y="4702220"/>
            <a:ext cx="4772691" cy="7716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de-DE"/>
              <a:t>E1e. Automation</a:t>
            </a:r>
            <a:endParaRPr/>
          </a:p>
        </p:txBody>
      </p:sp>
      <p:sp>
        <p:nvSpPr>
          <p:cNvPr id="185" name="Google Shape;185;p14"/>
          <p:cNvSpPr txBox="1"/>
          <p:nvPr/>
        </p:nvSpPr>
        <p:spPr>
          <a:xfrm>
            <a:off x="719666" y="1803927"/>
            <a:ext cx="10515600" cy="5535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de-DE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Does the paper suggest or describe automated checking of reproducibility?</a:t>
            </a:r>
            <a:endParaRPr/>
          </a:p>
        </p:txBody>
      </p:sp>
      <p:graphicFrame>
        <p:nvGraphicFramePr>
          <p:cNvPr id="186" name="Google Shape;186;p14"/>
          <p:cNvGraphicFramePr/>
          <p:nvPr/>
        </p:nvGraphicFramePr>
        <p:xfrm>
          <a:off x="838200" y="254687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{3E18CA9E-18DF-4E7E-A78F-584451793852}</a:tableStyleId>
              </a:tblPr>
              <a:tblGrid>
                <a:gridCol w="3364100"/>
                <a:gridCol w="3364100"/>
                <a:gridCol w="3364100"/>
              </a:tblGrid>
              <a:tr h="28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800"/>
                        <a:t>Ineke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800"/>
                        <a:t>Mehtab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800"/>
                        <a:t>Elisabetta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800"/>
                        <a:t>Not described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800"/>
                        <a:t>Manual only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800"/>
                        <a:t>Partial automation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de-DE"/>
              <a:t>My suggestion: E1e</a:t>
            </a:r>
            <a:endParaRPr/>
          </a:p>
        </p:txBody>
      </p:sp>
      <p:sp>
        <p:nvSpPr>
          <p:cNvPr id="192" name="Google Shape;192;p15"/>
          <p:cNvSpPr txBox="1"/>
          <p:nvPr>
            <p:ph idx="1" type="body"/>
          </p:nvPr>
        </p:nvSpPr>
        <p:spPr>
          <a:xfrm>
            <a:off x="838200" y="1825625"/>
            <a:ext cx="45720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de-DE"/>
              <a:t>Manual only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de-DE"/>
              <a:t>The confusion lies in these two sentences (p. 119 &amp; p. 121) – but these are just casual mentions.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de-DE"/>
              <a:t>If we look again at the workflow suggested by the authors, all of these steps are fully manual.</a:t>
            </a:r>
            <a:endParaRPr/>
          </a:p>
        </p:txBody>
      </p:sp>
      <p:pic>
        <p:nvPicPr>
          <p:cNvPr id="193" name="Google Shape;19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81802" y="1650010"/>
            <a:ext cx="4725059" cy="790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24643" y="442739"/>
            <a:ext cx="4839375" cy="914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40996" y="2733438"/>
            <a:ext cx="6790008" cy="38103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de-DE"/>
              <a:t>F2. Who Runs the Check?</a:t>
            </a:r>
            <a:endParaRPr/>
          </a:p>
        </p:txBody>
      </p:sp>
      <p:sp>
        <p:nvSpPr>
          <p:cNvPr id="201" name="Google Shape;201;p16"/>
          <p:cNvSpPr txBox="1"/>
          <p:nvPr>
            <p:ph idx="1" type="body"/>
          </p:nvPr>
        </p:nvSpPr>
        <p:spPr>
          <a:xfrm>
            <a:off x="838200" y="1825625"/>
            <a:ext cx="10515600" cy="866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de-DE"/>
              <a:t>Who does the paper say should perform the reproducibility check?</a:t>
            </a:r>
            <a:endParaRPr/>
          </a:p>
        </p:txBody>
      </p:sp>
      <p:graphicFrame>
        <p:nvGraphicFramePr>
          <p:cNvPr id="202" name="Google Shape;202;p16"/>
          <p:cNvGraphicFramePr/>
          <p:nvPr/>
        </p:nvGraphicFramePr>
        <p:xfrm>
          <a:off x="838200" y="29260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{3E18CA9E-18DF-4E7E-A78F-584451793852}</a:tableStyleId>
              </a:tblPr>
              <a:tblGrid>
                <a:gridCol w="3364100"/>
                <a:gridCol w="3364100"/>
                <a:gridCol w="3364100"/>
              </a:tblGrid>
              <a:tr h="28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800"/>
                        <a:t>Ineke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800"/>
                        <a:t>Mehtab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800"/>
                        <a:t>Elisabetta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800"/>
                        <a:t>Not described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800"/>
                        <a:t>Authors, peer-reviewers, third-party reproducers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800"/>
                        <a:t>Third-party reproducers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de-DE"/>
              <a:t>My suggestion: F2</a:t>
            </a:r>
            <a:endParaRPr/>
          </a:p>
        </p:txBody>
      </p:sp>
      <p:sp>
        <p:nvSpPr>
          <p:cNvPr id="208" name="Google Shape;208;p17"/>
          <p:cNvSpPr txBox="1"/>
          <p:nvPr>
            <p:ph idx="1" type="body"/>
          </p:nvPr>
        </p:nvSpPr>
        <p:spPr>
          <a:xfrm>
            <a:off x="838200" y="1825625"/>
            <a:ext cx="50800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de-DE"/>
              <a:t>Students are third-party reproducers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de-DE"/>
              <a:t>Classroom peer feedback (p. 119) doesn‘t refer to peer review process in a journal</a:t>
            </a:r>
            <a:endParaRPr/>
          </a:p>
        </p:txBody>
      </p:sp>
      <p:pic>
        <p:nvPicPr>
          <p:cNvPr id="209" name="Google Shape;20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39758" y="2008505"/>
            <a:ext cx="5966162" cy="11201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de-DE"/>
              <a:t>F3. Timing</a:t>
            </a:r>
            <a:endParaRPr/>
          </a:p>
        </p:txBody>
      </p:sp>
      <p:sp>
        <p:nvSpPr>
          <p:cNvPr id="215" name="Google Shape;215;p18"/>
          <p:cNvSpPr txBox="1"/>
          <p:nvPr>
            <p:ph idx="1" type="body"/>
          </p:nvPr>
        </p:nvSpPr>
        <p:spPr>
          <a:xfrm>
            <a:off x="838200" y="1825625"/>
            <a:ext cx="1051560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de-DE"/>
              <a:t>When does the paper suggest reproducibility should be verified?</a:t>
            </a:r>
            <a:endParaRPr/>
          </a:p>
        </p:txBody>
      </p:sp>
      <p:graphicFrame>
        <p:nvGraphicFramePr>
          <p:cNvPr id="216" name="Google Shape;216;p18"/>
          <p:cNvGraphicFramePr/>
          <p:nvPr/>
        </p:nvGraphicFramePr>
        <p:xfrm>
          <a:off x="1049866" y="26749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{3E18CA9E-18DF-4E7E-A78F-584451793852}</a:tableStyleId>
              </a:tblPr>
              <a:tblGrid>
                <a:gridCol w="3364100"/>
                <a:gridCol w="3364100"/>
                <a:gridCol w="3364100"/>
              </a:tblGrid>
              <a:tr h="28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800"/>
                        <a:t>Ineke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800"/>
                        <a:t>Mehtab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800"/>
                        <a:t>Elisabetta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800"/>
                        <a:t>Not described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800"/>
                        <a:t>Before submission, after publication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-DE" sz="1800"/>
                        <a:t>After publication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de-DE"/>
              <a:t>My suggestion: F3</a:t>
            </a:r>
            <a:endParaRPr/>
          </a:p>
        </p:txBody>
      </p:sp>
      <p:sp>
        <p:nvSpPr>
          <p:cNvPr id="222" name="Google Shape;222;p19"/>
          <p:cNvSpPr txBox="1"/>
          <p:nvPr>
            <p:ph idx="1" type="body"/>
          </p:nvPr>
        </p:nvSpPr>
        <p:spPr>
          <a:xfrm>
            <a:off x="838200" y="1825625"/>
            <a:ext cx="57404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de-DE"/>
              <a:t>After publication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de-DE"/>
              <a:t>Students reproduce already-published studies, so verification is inherently post-publication. </a:t>
            </a:r>
            <a:endParaRPr/>
          </a:p>
        </p:txBody>
      </p:sp>
      <p:pic>
        <p:nvPicPr>
          <p:cNvPr id="223" name="Google Shape;22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08990" y="2107077"/>
            <a:ext cx="4686954" cy="933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08990" y="3204748"/>
            <a:ext cx="4734586" cy="29722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de-DE"/>
              <a:t>Conclusions</a:t>
            </a:r>
            <a:endParaRPr/>
          </a:p>
        </p:txBody>
      </p:sp>
      <p:sp>
        <p:nvSpPr>
          <p:cNvPr id="230" name="Google Shape;230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de-DE" sz="2400"/>
              <a:t>Always code reproducibility definition („</a:t>
            </a:r>
            <a:r>
              <a:rPr b="1" lang="de-DE" sz="2400"/>
              <a:t>same data, same methods/code/analysis</a:t>
            </a:r>
            <a:r>
              <a:rPr lang="de-DE" sz="2400"/>
              <a:t>“), even though it is labelled under different terms.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de-DE" sz="2400"/>
              <a:t>For multi-select items, I deleted „Multiple“ as an option to avoid confusion.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de-DE" sz="2400"/>
              <a:t>Threshold of „Focus“ – when the paper only briefly mentions about something, it doesn‘t mean it focuses on this thing.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de-DE" sz="2400"/>
              <a:t>Please do use AI! It helps you to efficiently locate information in the paper.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de-DE" sz="2000"/>
              <a:t>Do you already have an access to any pro AI account? If not, I will discuss it with Johannes, Arnim, or Gunther/Jörg.</a:t>
            </a:r>
            <a:endParaRPr sz="24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de-DE" sz="2400"/>
              <a:t>Codebook v2 has been improved and has everything you need.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de-DE" sz="2000"/>
              <a:t>When in doubt, please check the codebook again.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de-DE" sz="2000"/>
              <a:t>…and of course, I‘m always available when you have any questions.</a:t>
            </a:r>
            <a:endParaRPr sz="2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de-DE"/>
              <a:t>Happy coding!☺️</a:t>
            </a:r>
            <a:endParaRPr/>
          </a:p>
        </p:txBody>
      </p:sp>
      <p:sp>
        <p:nvSpPr>
          <p:cNvPr id="236" name="Google Shape;236;p2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2026-06-08T06:00:11Z</dcterms:created>
  <dc:creator>Dr. Rizqy Amelia Zein</dc:creator>
</cp:coreProperties>
</file>