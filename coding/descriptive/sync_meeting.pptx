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7" r:id="rId10"/>
    <p:sldId id="262" r:id="rId11"/>
    <p:sldId id="265" r:id="rId12"/>
    <p:sldId id="266" r:id="rId13"/>
    <p:sldId id="270" r:id="rId14"/>
    <p:sldId id="268" r:id="rId15"/>
    <p:sldId id="269" r:id="rId16"/>
    <p:sldId id="271" r:id="rId17"/>
    <p:sldId id="272" r:id="rId18"/>
    <p:sldId id="273" r:id="rId19"/>
    <p:sldId id="274" r:id="rId20"/>
    <p:sldId id="275" r:id="rId21"/>
    <p:sldId id="277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3C813-9D8E-7CF6-A686-1474561A8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D7233A-CD6E-6906-3523-41266C93C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469DAE-6383-4C1F-4122-5A0A8D70B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5D73E3-3452-AD2E-5FD3-AD4961C4B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4D875-6C6C-6E1E-FE81-90BFA9EA4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7079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8DB6D-D521-0E24-92FC-8C0421B33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1B6B7-C8C1-A33D-91A8-26EAC0C709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A396AB-F341-AA6E-BEC4-D18817088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87665-57D1-9680-81CD-1993B1807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F339A-6A0F-0BB5-7867-6A5368F1D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2648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4C392-BED5-7133-9923-1DF290817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A65B2E-D6E4-4E9B-47E1-7D286E8A97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390DC3-F30E-CDC7-0927-98C2FD99F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EA15F-26C3-9D8B-3593-8A2CD360C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42CFEA-13F2-3AB5-A3B6-11DE8F37E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0728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57261-5963-A501-D982-4B4D2A6FA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C2EF4-7F6F-7288-880E-30C9530AD8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1541CA-F109-2B71-ECBD-BF96C5B203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19D02-5029-FBCF-AC42-DA1351593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CFB71F-CBB0-97B7-CAE6-FCEF4FD4B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072049-76FD-66BD-5316-74BBFE298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27457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E7760-474C-EFB8-EF8E-1FAADB7E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13582-469E-24E0-2DB8-314E32CDF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149EAB-7A83-EEA6-8B5F-8E120A115F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CDCE70-F0B2-3893-7803-66AC61968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E14A9F-BCDB-9F76-33A7-E9925010AB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E24BB4-64D9-89B8-6B44-6D953983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4F7ED3-FFC8-97A4-FE46-D933EE881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B05501-1980-40AC-3133-1CA3A6BAC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7198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29B02-4428-EB6B-C74F-BD1DC9396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90A708-FC4E-E107-91F6-CA829E147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ACC08-4CD0-20AA-8BED-2EB759C03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14D240-D04D-F031-0D88-F900DBDE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5103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21432-B5E9-9E7D-0EC0-ACE7B6666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0EB536-0F6F-1312-EE99-D051145CE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9F0EF-C619-EB04-9CB2-6BD01CD19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5518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3042-42BB-571D-D742-46BCD72C1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E872B-DD94-823D-377E-10EDD8AAF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39E977-94D5-CF20-3371-7EA775AE72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9718-8870-87E8-6611-178545096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A88C24-2B82-3CDC-1EC7-9D0EA29FF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E57190-1BA3-D00F-2109-CB04DD7B9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5967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A663C-C61E-6E86-5419-77587A2E8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829D71-C4B8-2607-0741-B9D95F228E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760E65-DF41-6176-35ED-8E268C8269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1A015-5486-DC70-E742-0F9BB48CD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158497-F9BB-12A0-A9C9-ECCF5BEA7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932E94-380C-6887-EB25-1ED14FDD1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463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E2621-57AB-C0B3-EF4C-83D1A679B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C596DD-81F4-1C86-6687-B3758D21F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06B3-0E6C-FE50-1E9B-4B4EAF59D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97347-5EB9-08F0-581C-B8A661B65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AC75E-FBAE-A5BE-8D62-85CFE8F19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1682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02757F-D8ED-1A6C-39A6-7938901354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03DF58-2299-7917-7510-7CDA242D2B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1B32F-C81E-B467-8A9F-B535FA453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9813EA-FAA4-6001-A490-50EA47A1E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3630D-6D2C-E6D4-F33A-101ACB291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287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2FA9C-F0BA-E63F-8862-843D4ED1A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010891-84C1-59D7-9AA3-6654428463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864B20-7B2C-E42F-174D-27D495A9C3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F81F09-CDB0-48FD-AFD3-232C2D54D8B7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0407D-BACC-9EF9-D688-20367B36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2388F-61AA-93F8-338D-187551C31A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670D1C-36E4-4931-8919-4DE3DDDF2A6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6622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9D5D9-9042-8673-B6E1-A9CBCC78B1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Synchronization</a:t>
            </a:r>
            <a:r>
              <a:rPr lang="de-DE" dirty="0"/>
              <a:t> Meeting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AD0D6B-4EFF-092E-5E03-DF2080E2EE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SocEnRep</a:t>
            </a:r>
            <a:endParaRPr lang="de-DE" dirty="0"/>
          </a:p>
          <a:p>
            <a:r>
              <a:rPr lang="de-DE" dirty="0"/>
              <a:t>Mon, 08.06.2026</a:t>
            </a:r>
          </a:p>
        </p:txBody>
      </p:sp>
    </p:spTree>
    <p:extLst>
      <p:ext uri="{BB962C8B-B14F-4D97-AF65-F5344CB8AC3E}">
        <p14:creationId xmlns:p14="http://schemas.microsoft.com/office/powerpoint/2010/main" val="1245123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CCCF0-B202-DAD2-04B9-EB1090F94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Purpose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meeting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E5736-9A98-23F0-2094-235F406F2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know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other</a:t>
            </a:r>
            <a:endParaRPr lang="de-DE" dirty="0"/>
          </a:p>
          <a:p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divergence</a:t>
            </a:r>
            <a:r>
              <a:rPr lang="de-DE" dirty="0"/>
              <a:t> in </a:t>
            </a:r>
            <a:r>
              <a:rPr lang="de-DE" dirty="0" err="1"/>
              <a:t>coding</a:t>
            </a:r>
            <a:r>
              <a:rPr lang="de-DE" dirty="0"/>
              <a:t> Bauer et al (2025)</a:t>
            </a:r>
          </a:p>
          <a:p>
            <a:pPr lvl="1"/>
            <a:r>
              <a:rPr lang="de-DE" dirty="0"/>
              <a:t>…and </a:t>
            </a:r>
            <a:r>
              <a:rPr lang="de-DE" dirty="0" err="1"/>
              <a:t>changes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codebook</a:t>
            </a:r>
            <a:r>
              <a:rPr lang="de-DE" dirty="0"/>
              <a:t> + </a:t>
            </a:r>
            <a:r>
              <a:rPr lang="de-DE" dirty="0" err="1"/>
              <a:t>gform</a:t>
            </a:r>
            <a:endParaRPr lang="de-DE" dirty="0"/>
          </a:p>
          <a:p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codebook</a:t>
            </a:r>
            <a:r>
              <a:rPr lang="de-DE" dirty="0"/>
              <a:t> v2</a:t>
            </a:r>
          </a:p>
          <a:p>
            <a:pPr lvl="1"/>
            <a:r>
              <a:rPr lang="de-DE" dirty="0"/>
              <a:t>Most </a:t>
            </a:r>
            <a:r>
              <a:rPr lang="de-DE" dirty="0" err="1"/>
              <a:t>importantly</a:t>
            </a:r>
            <a:r>
              <a:rPr lang="de-DE" dirty="0"/>
              <a:t>,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affects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b="1" i="1" dirty="0"/>
              <a:t>code </a:t>
            </a:r>
            <a:r>
              <a:rPr lang="de-DE" b="1" i="1" dirty="0" err="1"/>
              <a:t>the</a:t>
            </a:r>
            <a:r>
              <a:rPr lang="de-DE" b="1" i="1" dirty="0"/>
              <a:t> </a:t>
            </a:r>
            <a:r>
              <a:rPr lang="de-DE" b="1" i="1" dirty="0" err="1"/>
              <a:t>definition</a:t>
            </a:r>
            <a:r>
              <a:rPr lang="de-DE" b="1" i="1" dirty="0"/>
              <a:t> </a:t>
            </a:r>
            <a:r>
              <a:rPr lang="de-DE" b="1" i="1" dirty="0" err="1"/>
              <a:t>of</a:t>
            </a:r>
            <a:r>
              <a:rPr lang="de-DE" b="1" i="1" dirty="0"/>
              <a:t> </a:t>
            </a:r>
            <a:r>
              <a:rPr lang="de-DE" b="1" i="1" dirty="0" err="1"/>
              <a:t>computational</a:t>
            </a:r>
            <a:r>
              <a:rPr lang="de-DE" b="1" i="1" dirty="0"/>
              <a:t> </a:t>
            </a:r>
            <a:r>
              <a:rPr lang="de-DE" b="1" i="1" dirty="0" err="1"/>
              <a:t>reproducibility</a:t>
            </a:r>
            <a:endParaRPr lang="de-DE" b="1" i="1" dirty="0"/>
          </a:p>
          <a:p>
            <a:r>
              <a:rPr lang="de-DE" dirty="0" err="1"/>
              <a:t>Answer</a:t>
            </a:r>
            <a:r>
              <a:rPr lang="de-DE" dirty="0"/>
              <a:t> all </a:t>
            </a:r>
            <a:r>
              <a:rPr lang="de-DE" dirty="0" err="1"/>
              <a:t>questions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have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01754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F7CBC-F1D2-83CD-C3B7-1D22F04B1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C1. Primary </a:t>
            </a:r>
            <a:r>
              <a:rPr lang="de-DE" dirty="0" err="1"/>
              <a:t>Contribution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6E280-CB47-BFA6-3689-3FA940869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9436"/>
            <a:ext cx="10515600" cy="697442"/>
          </a:xfrm>
        </p:spPr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b="1" dirty="0" err="1"/>
              <a:t>primary</a:t>
            </a:r>
            <a:r>
              <a:rPr lang="de-DE" b="1" dirty="0"/>
              <a:t> type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contribution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D10B5E-7DDA-7330-3439-B46799749B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3326139"/>
              </p:ext>
            </p:extLst>
          </p:nvPr>
        </p:nvGraphicFramePr>
        <p:xfrm>
          <a:off x="1109134" y="2076159"/>
          <a:ext cx="10092267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4089">
                  <a:extLst>
                    <a:ext uri="{9D8B030D-6E8A-4147-A177-3AD203B41FA5}">
                      <a16:colId xmlns:a16="http://schemas.microsoft.com/office/drawing/2014/main" val="2154629089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3247285658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2277885477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lang="de-DE" dirty="0"/>
                        <a:t>Ineke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Mehtab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Elisabetta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2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Educational/</a:t>
                      </a:r>
                      <a:r>
                        <a:rPr lang="de-DE" dirty="0" err="1"/>
                        <a:t>training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resource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Educational/</a:t>
                      </a:r>
                      <a:r>
                        <a:rPr lang="de-DE" dirty="0" err="1"/>
                        <a:t>training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resource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Guidelines/</a:t>
                      </a:r>
                      <a:r>
                        <a:rPr lang="de-DE" dirty="0" err="1"/>
                        <a:t>policy</a:t>
                      </a:r>
                      <a:endParaRPr lang="de-DE" dirty="0"/>
                    </a:p>
                    <a:p>
                      <a:r>
                        <a:rPr lang="de-DE" dirty="0"/>
                        <a:t>(but </a:t>
                      </a:r>
                      <a:r>
                        <a:rPr lang="de-DE" dirty="0" err="1"/>
                        <a:t>would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have</a:t>
                      </a:r>
                      <a:r>
                        <a:rPr lang="de-DE" dirty="0"/>
                        <a:t> also </a:t>
                      </a:r>
                      <a:r>
                        <a:rPr lang="de-DE" dirty="0" err="1"/>
                        <a:t>chosen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educational</a:t>
                      </a:r>
                      <a:r>
                        <a:rPr lang="de-DE" dirty="0"/>
                        <a:t>/</a:t>
                      </a:r>
                      <a:r>
                        <a:rPr lang="de-DE" dirty="0" err="1"/>
                        <a:t>training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resource</a:t>
                      </a:r>
                      <a:r>
                        <a:rPr lang="de-DE" dirty="0"/>
                        <a:t>, </a:t>
                      </a:r>
                      <a:r>
                        <a:rPr lang="de-DE" dirty="0" err="1"/>
                        <a:t>if</a:t>
                      </a:r>
                      <a:r>
                        <a:rPr lang="de-DE" dirty="0"/>
                        <a:t> multiple </a:t>
                      </a:r>
                      <a:r>
                        <a:rPr lang="de-DE" dirty="0" err="1"/>
                        <a:t>answers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are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allowed</a:t>
                      </a:r>
                      <a:r>
                        <a:rPr lang="de-DE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793160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13BD78B8-9A9F-CD48-EED1-EEDF4F74950B}"/>
              </a:ext>
            </a:extLst>
          </p:cNvPr>
          <p:cNvSpPr txBox="1">
            <a:spLocks/>
          </p:cNvSpPr>
          <p:nvPr/>
        </p:nvSpPr>
        <p:spPr>
          <a:xfrm>
            <a:off x="838200" y="380166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C2. </a:t>
            </a:r>
            <a:r>
              <a:rPr lang="de-DE" dirty="0" err="1"/>
              <a:t>Secondary</a:t>
            </a:r>
            <a:r>
              <a:rPr lang="de-DE" dirty="0"/>
              <a:t> </a:t>
            </a:r>
            <a:r>
              <a:rPr lang="de-DE" dirty="0" err="1"/>
              <a:t>Contribution</a:t>
            </a:r>
            <a:endParaRPr lang="de-DE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7D00E42-F120-B54C-EB69-D98CCECCF44B}"/>
              </a:ext>
            </a:extLst>
          </p:cNvPr>
          <p:cNvSpPr txBox="1">
            <a:spLocks/>
          </p:cNvSpPr>
          <p:nvPr/>
        </p:nvSpPr>
        <p:spPr>
          <a:xfrm>
            <a:off x="685800" y="4847377"/>
            <a:ext cx="10515600" cy="6974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a </a:t>
            </a:r>
            <a:r>
              <a:rPr lang="de-DE" dirty="0" err="1"/>
              <a:t>clearly</a:t>
            </a:r>
            <a:r>
              <a:rPr lang="de-DE" dirty="0"/>
              <a:t> </a:t>
            </a:r>
            <a:r>
              <a:rPr lang="de-DE" dirty="0" err="1"/>
              <a:t>applicable</a:t>
            </a:r>
            <a:r>
              <a:rPr lang="de-DE" dirty="0"/>
              <a:t> </a:t>
            </a:r>
            <a:r>
              <a:rPr lang="de-DE" b="1" dirty="0" err="1"/>
              <a:t>secondary</a:t>
            </a:r>
            <a:r>
              <a:rPr lang="de-DE" b="1" dirty="0"/>
              <a:t> type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contribution</a:t>
            </a:r>
            <a:r>
              <a:rPr lang="de-DE" dirty="0"/>
              <a:t>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CC73977-BFBF-1407-7F3E-3F329EAD32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5060131"/>
              </p:ext>
            </p:extLst>
          </p:nvPr>
        </p:nvGraphicFramePr>
        <p:xfrm>
          <a:off x="1109134" y="5544819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15462908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4728565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277885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Ineke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Mehtab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Elisabetta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2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blank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Guidelines/</a:t>
                      </a:r>
                      <a:r>
                        <a:rPr lang="de-DE" dirty="0" err="1"/>
                        <a:t>policy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blank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793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88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769A-3E22-7D98-0BDA-3555BA716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C1 &amp; C2: My </a:t>
            </a:r>
            <a:r>
              <a:rPr lang="de-DE" dirty="0" err="1"/>
              <a:t>suggestions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CC081-DEEB-228F-424F-31EF9FFF7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00399"/>
            <a:ext cx="10735733" cy="2976563"/>
          </a:xfrm>
        </p:spPr>
        <p:txBody>
          <a:bodyPr>
            <a:normAutofit/>
          </a:bodyPr>
          <a:lstStyle/>
          <a:p>
            <a:r>
              <a:rPr lang="de-DE" sz="2400" dirty="0"/>
              <a:t>In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abstract</a:t>
            </a:r>
            <a:r>
              <a:rPr lang="de-DE" sz="2400" dirty="0"/>
              <a:t>, </a:t>
            </a:r>
            <a:r>
              <a:rPr lang="de-DE" sz="2400" dirty="0" err="1"/>
              <a:t>it</a:t>
            </a:r>
            <a:r>
              <a:rPr lang="de-DE" sz="2400" dirty="0"/>
              <a:t> </a:t>
            </a:r>
            <a:r>
              <a:rPr lang="de-DE" sz="2400" dirty="0" err="1"/>
              <a:t>implies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paper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„a </a:t>
            </a:r>
            <a:r>
              <a:rPr lang="de-DE" sz="2400" dirty="0" err="1"/>
              <a:t>guideline</a:t>
            </a:r>
            <a:r>
              <a:rPr lang="de-DE" sz="2400" dirty="0"/>
              <a:t>“ but </a:t>
            </a:r>
            <a:r>
              <a:rPr lang="de-DE" sz="2400" b="1" dirty="0" err="1"/>
              <a:t>it</a:t>
            </a:r>
            <a:r>
              <a:rPr lang="de-DE" sz="2400" b="1" dirty="0"/>
              <a:t> </a:t>
            </a:r>
            <a:r>
              <a:rPr lang="de-DE" sz="2400" b="1" dirty="0" err="1"/>
              <a:t>is</a:t>
            </a:r>
            <a:r>
              <a:rPr lang="de-DE" sz="2400" b="1" dirty="0"/>
              <a:t> </a:t>
            </a:r>
            <a:r>
              <a:rPr lang="de-DE" sz="2400" b="1" dirty="0" err="1"/>
              <a:t>primarily</a:t>
            </a:r>
            <a:r>
              <a:rPr lang="de-DE" sz="2400" b="1" dirty="0"/>
              <a:t> a </a:t>
            </a:r>
            <a:r>
              <a:rPr lang="de-DE" sz="2400" b="1" dirty="0" err="1"/>
              <a:t>teaching</a:t>
            </a:r>
            <a:r>
              <a:rPr lang="de-DE" sz="2400" b="1" dirty="0"/>
              <a:t> </a:t>
            </a:r>
            <a:r>
              <a:rPr lang="de-DE" sz="2400" b="1" dirty="0" err="1"/>
              <a:t>resource</a:t>
            </a:r>
            <a:r>
              <a:rPr lang="de-DE" sz="2400" dirty="0"/>
              <a:t>.</a:t>
            </a:r>
          </a:p>
          <a:p>
            <a:r>
              <a:rPr lang="de-DE" sz="2400" dirty="0"/>
              <a:t>Guideline/</a:t>
            </a:r>
            <a:r>
              <a:rPr lang="de-DE" sz="2400" dirty="0" err="1"/>
              <a:t>policy</a:t>
            </a:r>
            <a:r>
              <a:rPr lang="de-DE" sz="2400" dirty="0"/>
              <a:t> </a:t>
            </a:r>
            <a:r>
              <a:rPr lang="de-DE" sz="2400" dirty="0" err="1"/>
              <a:t>option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reserved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something</a:t>
            </a:r>
            <a:r>
              <a:rPr lang="de-DE" sz="2400" dirty="0"/>
              <a:t> </a:t>
            </a:r>
            <a:r>
              <a:rPr lang="de-DE" sz="2400" dirty="0" err="1"/>
              <a:t>more</a:t>
            </a:r>
            <a:r>
              <a:rPr lang="de-DE" sz="2400" dirty="0"/>
              <a:t> normative/</a:t>
            </a:r>
            <a:r>
              <a:rPr lang="de-DE" sz="2400" dirty="0" err="1"/>
              <a:t>enforced</a:t>
            </a:r>
            <a:r>
              <a:rPr lang="de-DE" sz="2400" dirty="0"/>
              <a:t> (e.g., a </a:t>
            </a:r>
            <a:r>
              <a:rPr lang="de-DE" sz="2400" dirty="0" err="1"/>
              <a:t>journal</a:t>
            </a:r>
            <a:r>
              <a:rPr lang="de-DE" sz="2400" dirty="0"/>
              <a:t>, </a:t>
            </a:r>
            <a:r>
              <a:rPr lang="de-DE" sz="2400" dirty="0" err="1"/>
              <a:t>association</a:t>
            </a:r>
            <a:r>
              <a:rPr lang="de-DE" sz="2400" dirty="0"/>
              <a:t>, </a:t>
            </a:r>
            <a:r>
              <a:rPr lang="de-DE" sz="2400" dirty="0" err="1"/>
              <a:t>institutional</a:t>
            </a:r>
            <a:r>
              <a:rPr lang="de-DE" sz="2400" dirty="0"/>
              <a:t>, </a:t>
            </a:r>
            <a:r>
              <a:rPr lang="de-DE" sz="2400" dirty="0" err="1"/>
              <a:t>community</a:t>
            </a:r>
            <a:r>
              <a:rPr lang="de-DE" sz="2400" dirty="0"/>
              <a:t> </a:t>
            </a:r>
            <a:r>
              <a:rPr lang="de-DE" sz="2400" dirty="0" err="1"/>
              <a:t>policy</a:t>
            </a:r>
            <a:r>
              <a:rPr lang="de-DE" sz="2400" dirty="0"/>
              <a:t>).</a:t>
            </a:r>
          </a:p>
          <a:p>
            <a:pPr lvl="1"/>
            <a:r>
              <a:rPr lang="en-US" sz="2000" dirty="0"/>
              <a:t>If the paper is about a university’s policy regarding teaching methods courses, then it falls under the guideline/policy category.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DDD846-F3EC-6617-CAB5-7A787C6E2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2081513"/>
            <a:ext cx="10789796" cy="636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234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2380C-4BEB-C8D2-008C-6860DE8E6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22C86-FAF8-B31A-8FE2-9C82CED26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D1. </a:t>
            </a:r>
            <a:r>
              <a:rPr lang="de-DE" dirty="0" err="1"/>
              <a:t>Reproducibility</a:t>
            </a:r>
            <a:r>
              <a:rPr lang="de-DE" dirty="0"/>
              <a:t>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83EE9-08EA-B139-CD88-09878F91A8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75242"/>
          </a:xfrm>
        </p:spPr>
        <p:txBody>
          <a:bodyPr/>
          <a:lstStyle/>
          <a:p>
            <a:r>
              <a:rPr lang="de-DE" dirty="0"/>
              <a:t>Does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</a:t>
            </a:r>
            <a:r>
              <a:rPr lang="de-DE" dirty="0" err="1"/>
              <a:t>provide</a:t>
            </a:r>
            <a:r>
              <a:rPr lang="de-DE" dirty="0"/>
              <a:t> a </a:t>
            </a:r>
            <a:r>
              <a:rPr lang="de-DE" dirty="0" err="1"/>
              <a:t>definition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computational</a:t>
            </a:r>
            <a:r>
              <a:rPr lang="de-DE" dirty="0"/>
              <a:t> </a:t>
            </a:r>
            <a:r>
              <a:rPr lang="de-DE" dirty="0" err="1"/>
              <a:t>reproducibility</a:t>
            </a:r>
            <a:r>
              <a:rPr lang="de-DE" dirty="0"/>
              <a:t>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053359C-87BC-0997-3CF0-A8DC6B04CC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298005"/>
              </p:ext>
            </p:extLst>
          </p:nvPr>
        </p:nvGraphicFramePr>
        <p:xfrm>
          <a:off x="838200" y="3176826"/>
          <a:ext cx="10092267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4089">
                  <a:extLst>
                    <a:ext uri="{9D8B030D-6E8A-4147-A177-3AD203B41FA5}">
                      <a16:colId xmlns:a16="http://schemas.microsoft.com/office/drawing/2014/main" val="2154629089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3247285658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2277885477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lang="de-DE" dirty="0"/>
                        <a:t>Ineke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Mehtab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Elisabetta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2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No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No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No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793160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8E902AC-D0DF-CDE4-84BE-9BCFF69D2A0D}"/>
              </a:ext>
            </a:extLst>
          </p:cNvPr>
          <p:cNvSpPr txBox="1">
            <a:spLocks/>
          </p:cNvSpPr>
          <p:nvPr/>
        </p:nvSpPr>
        <p:spPr>
          <a:xfrm>
            <a:off x="838200" y="4389385"/>
            <a:ext cx="10515600" cy="87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2000" dirty="0" err="1"/>
              <a:t>Your</a:t>
            </a:r>
            <a:r>
              <a:rPr lang="de-DE" sz="2000" dirty="0"/>
              <a:t> </a:t>
            </a:r>
            <a:r>
              <a:rPr lang="de-DE" sz="2000" dirty="0" err="1"/>
              <a:t>answer</a:t>
            </a:r>
            <a:r>
              <a:rPr lang="de-DE" sz="2000" dirty="0"/>
              <a:t> </a:t>
            </a:r>
            <a:r>
              <a:rPr lang="de-DE" sz="2000" dirty="0" err="1"/>
              <a:t>is</a:t>
            </a:r>
            <a:r>
              <a:rPr lang="de-DE" sz="2000" dirty="0"/>
              <a:t> </a:t>
            </a:r>
            <a:r>
              <a:rPr lang="de-DE" sz="2000" dirty="0" err="1"/>
              <a:t>correct</a:t>
            </a:r>
            <a:r>
              <a:rPr lang="de-DE" sz="2000" dirty="0"/>
              <a:t> and </a:t>
            </a:r>
            <a:r>
              <a:rPr lang="de-DE" sz="2000" dirty="0" err="1"/>
              <a:t>we</a:t>
            </a:r>
            <a:r>
              <a:rPr lang="de-DE" sz="2000" dirty="0"/>
              <a:t> </a:t>
            </a:r>
            <a:r>
              <a:rPr lang="de-DE" sz="2000" dirty="0" err="1"/>
              <a:t>can</a:t>
            </a:r>
            <a:r>
              <a:rPr lang="de-DE" sz="2000" dirty="0"/>
              <a:t> </a:t>
            </a:r>
            <a:r>
              <a:rPr lang="de-DE" sz="2000" dirty="0" err="1"/>
              <a:t>see</a:t>
            </a:r>
            <a:r>
              <a:rPr lang="de-DE" sz="2000" dirty="0"/>
              <a:t> </a:t>
            </a:r>
            <a:r>
              <a:rPr lang="de-DE" sz="2000" dirty="0" err="1"/>
              <a:t>there</a:t>
            </a:r>
            <a:r>
              <a:rPr lang="de-DE" sz="2000" dirty="0"/>
              <a:t> </a:t>
            </a:r>
            <a:r>
              <a:rPr lang="de-DE" sz="2000" dirty="0" err="1"/>
              <a:t>is</a:t>
            </a:r>
            <a:r>
              <a:rPr lang="de-DE" sz="2000" dirty="0"/>
              <a:t> a </a:t>
            </a:r>
            <a:r>
              <a:rPr lang="de-DE" sz="2000" dirty="0" err="1"/>
              <a:t>perfect</a:t>
            </a:r>
            <a:r>
              <a:rPr lang="de-DE" sz="2000" dirty="0"/>
              <a:t> </a:t>
            </a:r>
            <a:r>
              <a:rPr lang="de-DE" sz="2000" dirty="0" err="1"/>
              <a:t>agreement</a:t>
            </a:r>
            <a:r>
              <a:rPr lang="de-DE" sz="2000" dirty="0"/>
              <a:t>. The </a:t>
            </a:r>
            <a:r>
              <a:rPr lang="de-DE" sz="2000" dirty="0" err="1"/>
              <a:t>paper</a:t>
            </a:r>
            <a:r>
              <a:rPr lang="de-DE" sz="2000" dirty="0"/>
              <a:t> </a:t>
            </a:r>
            <a:r>
              <a:rPr lang="de-DE" sz="2000" dirty="0" err="1"/>
              <a:t>indeed</a:t>
            </a:r>
            <a:r>
              <a:rPr lang="de-DE" sz="2000" dirty="0"/>
              <a:t> </a:t>
            </a:r>
            <a:r>
              <a:rPr lang="de-DE" sz="2000" dirty="0" err="1"/>
              <a:t>doesn‘t</a:t>
            </a:r>
            <a:r>
              <a:rPr lang="de-DE" sz="2000" dirty="0"/>
              <a:t> </a:t>
            </a:r>
            <a:r>
              <a:rPr lang="de-DE" sz="2000" dirty="0" err="1"/>
              <a:t>contain</a:t>
            </a:r>
            <a:r>
              <a:rPr lang="de-DE" sz="2000" dirty="0"/>
              <a:t> </a:t>
            </a:r>
            <a:r>
              <a:rPr lang="de-DE" sz="2000" dirty="0" err="1"/>
              <a:t>any</a:t>
            </a:r>
            <a:r>
              <a:rPr lang="de-DE" sz="2000" dirty="0"/>
              <a:t> </a:t>
            </a:r>
            <a:r>
              <a:rPr lang="de-DE" sz="2000" dirty="0" err="1"/>
              <a:t>definition</a:t>
            </a:r>
            <a:r>
              <a:rPr lang="de-DE" sz="2000" dirty="0"/>
              <a:t> on „</a:t>
            </a:r>
            <a:r>
              <a:rPr lang="de-DE" sz="2000" dirty="0" err="1"/>
              <a:t>computational</a:t>
            </a:r>
            <a:r>
              <a:rPr lang="de-DE" sz="2000" dirty="0"/>
              <a:t> </a:t>
            </a:r>
            <a:r>
              <a:rPr lang="de-DE" sz="2000" dirty="0" err="1"/>
              <a:t>reproducibility</a:t>
            </a:r>
            <a:r>
              <a:rPr lang="de-DE" sz="2000" dirty="0"/>
              <a:t>,“ </a:t>
            </a:r>
            <a:r>
              <a:rPr lang="de-DE" sz="2000" b="1" i="1" dirty="0" err="1"/>
              <a:t>however</a:t>
            </a:r>
            <a:r>
              <a:rPr lang="de-DE" sz="20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597751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450D7-7D69-7655-B63D-A008C3605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D1. </a:t>
            </a:r>
            <a:r>
              <a:rPr lang="de-DE" dirty="0" err="1"/>
              <a:t>Reproducibility</a:t>
            </a:r>
            <a:r>
              <a:rPr lang="de-DE" dirty="0"/>
              <a:t>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7B8CC-FBDB-6BC2-055C-5BC5AAC80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8745"/>
            <a:ext cx="10515600" cy="3965787"/>
          </a:xfrm>
        </p:spPr>
        <p:txBody>
          <a:bodyPr>
            <a:normAutofit/>
          </a:bodyPr>
          <a:lstStyle/>
          <a:p>
            <a:r>
              <a:rPr lang="de-DE" sz="2400" dirty="0" err="1"/>
              <a:t>There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a </a:t>
            </a:r>
            <a:r>
              <a:rPr lang="de-DE" sz="2400" dirty="0" err="1"/>
              <a:t>substantive</a:t>
            </a:r>
            <a:r>
              <a:rPr lang="de-DE" sz="2400" dirty="0"/>
              <a:t> </a:t>
            </a:r>
            <a:r>
              <a:rPr lang="de-DE" sz="2400" dirty="0" err="1"/>
              <a:t>definition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„</a:t>
            </a:r>
            <a:r>
              <a:rPr lang="de-DE" sz="2400" dirty="0" err="1"/>
              <a:t>reproducibility</a:t>
            </a:r>
            <a:r>
              <a:rPr lang="de-DE" sz="2400" dirty="0"/>
              <a:t>“ in p. 117, but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authors</a:t>
            </a:r>
            <a:r>
              <a:rPr lang="de-DE" sz="2400" dirty="0"/>
              <a:t> </a:t>
            </a:r>
            <a:r>
              <a:rPr lang="de-DE" sz="2400" dirty="0" err="1"/>
              <a:t>label</a:t>
            </a:r>
            <a:r>
              <a:rPr lang="de-DE" sz="2400" dirty="0"/>
              <a:t> </a:t>
            </a:r>
            <a:r>
              <a:rPr lang="de-DE" sz="2400" dirty="0" err="1"/>
              <a:t>it</a:t>
            </a:r>
            <a:r>
              <a:rPr lang="de-DE" sz="2400" dirty="0"/>
              <a:t> </a:t>
            </a:r>
            <a:r>
              <a:rPr lang="de-DE" sz="2400" dirty="0" err="1"/>
              <a:t>differently</a:t>
            </a:r>
            <a:r>
              <a:rPr lang="de-DE" sz="2400" dirty="0"/>
              <a:t> – „Analytical Replication“</a:t>
            </a:r>
          </a:p>
          <a:p>
            <a:r>
              <a:rPr lang="de-DE" sz="2400" dirty="0"/>
              <a:t>This </a:t>
            </a:r>
            <a:r>
              <a:rPr lang="de-DE" sz="2400" dirty="0" err="1"/>
              <a:t>happens</a:t>
            </a:r>
            <a:r>
              <a:rPr lang="de-DE" sz="2400" dirty="0"/>
              <a:t> </a:t>
            </a:r>
            <a:r>
              <a:rPr lang="de-DE" sz="2400" dirty="0" err="1"/>
              <a:t>quite</a:t>
            </a:r>
            <a:r>
              <a:rPr lang="de-DE" sz="2400" dirty="0"/>
              <a:t> </a:t>
            </a:r>
            <a:r>
              <a:rPr lang="de-DE" sz="2400" dirty="0" err="1"/>
              <a:t>often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reproducibility</a:t>
            </a:r>
            <a:r>
              <a:rPr lang="de-DE" sz="2400" dirty="0"/>
              <a:t> (vs. </a:t>
            </a:r>
            <a:r>
              <a:rPr lang="de-DE" sz="2400" dirty="0" err="1"/>
              <a:t>replication</a:t>
            </a:r>
            <a:r>
              <a:rPr lang="de-DE" sz="2400" dirty="0"/>
              <a:t>)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conflated</a:t>
            </a:r>
            <a:r>
              <a:rPr lang="de-DE" sz="2400" dirty="0"/>
              <a:t> in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literature</a:t>
            </a:r>
            <a:r>
              <a:rPr lang="de-DE" sz="2400" dirty="0"/>
              <a:t>. </a:t>
            </a:r>
          </a:p>
          <a:p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this</a:t>
            </a:r>
            <a:r>
              <a:rPr lang="de-DE" sz="2400" dirty="0"/>
              <a:t> </a:t>
            </a:r>
            <a:r>
              <a:rPr lang="de-DE" sz="2400" dirty="0" err="1"/>
              <a:t>reason</a:t>
            </a:r>
            <a:r>
              <a:rPr lang="de-DE" sz="2400" dirty="0"/>
              <a:t>, I </a:t>
            </a:r>
            <a:r>
              <a:rPr lang="de-DE" sz="2400" dirty="0" err="1"/>
              <a:t>introduce</a:t>
            </a:r>
            <a:r>
              <a:rPr lang="de-DE" sz="2400" dirty="0"/>
              <a:t> a </a:t>
            </a:r>
            <a:r>
              <a:rPr lang="de-DE" sz="2400" dirty="0" err="1"/>
              <a:t>new</a:t>
            </a:r>
            <a:r>
              <a:rPr lang="de-DE" sz="2400" dirty="0"/>
              <a:t> </a:t>
            </a:r>
            <a:r>
              <a:rPr lang="de-DE" sz="2400" dirty="0" err="1"/>
              <a:t>decision</a:t>
            </a:r>
            <a:r>
              <a:rPr lang="de-DE" sz="2400" dirty="0"/>
              <a:t> </a:t>
            </a:r>
            <a:r>
              <a:rPr lang="de-DE" sz="2400" dirty="0" err="1"/>
              <a:t>rule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this</a:t>
            </a:r>
            <a:r>
              <a:rPr lang="de-DE" sz="2400" dirty="0"/>
              <a:t> item: „</a:t>
            </a:r>
            <a:r>
              <a:rPr lang="en-US" sz="2400" b="1" dirty="0">
                <a:solidFill>
                  <a:srgbClr val="FF0000"/>
                </a:solidFill>
              </a:rPr>
              <a:t>code the definition by meaning, not by the label.</a:t>
            </a:r>
            <a:r>
              <a:rPr lang="de-DE" sz="2400" dirty="0"/>
              <a:t>“</a:t>
            </a:r>
          </a:p>
          <a:p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paper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 err="1"/>
              <a:t>something</a:t>
            </a:r>
            <a:r>
              <a:rPr lang="de-DE" sz="2400" dirty="0"/>
              <a:t> </a:t>
            </a:r>
            <a:r>
              <a:rPr lang="de-DE" sz="2400" dirty="0" err="1"/>
              <a:t>about</a:t>
            </a:r>
            <a:r>
              <a:rPr lang="de-DE" sz="2400" dirty="0"/>
              <a:t> </a:t>
            </a:r>
            <a:r>
              <a:rPr lang="en-US" sz="2400" dirty="0"/>
              <a:t>reproducing results from the same data and code (</a:t>
            </a:r>
            <a:r>
              <a:rPr lang="de-DE" sz="2400" dirty="0"/>
              <a:t>„</a:t>
            </a:r>
            <a:r>
              <a:rPr lang="en-US" sz="2400" b="1" dirty="0">
                <a:solidFill>
                  <a:srgbClr val="FF0000"/>
                </a:solidFill>
              </a:rPr>
              <a:t>same data, same code/methods/analysis</a:t>
            </a:r>
            <a:r>
              <a:rPr lang="de-DE" sz="2400" dirty="0"/>
              <a:t>“</a:t>
            </a:r>
            <a:r>
              <a:rPr lang="en-US" sz="2400" dirty="0"/>
              <a:t>) counts as the definition of reproducibility, even if the paper calls it </a:t>
            </a:r>
            <a:r>
              <a:rPr lang="de-DE" sz="2400" dirty="0"/>
              <a:t>„</a:t>
            </a:r>
            <a:r>
              <a:rPr lang="en-US" sz="2400" dirty="0"/>
              <a:t>replication.</a:t>
            </a:r>
            <a:r>
              <a:rPr lang="de-DE" sz="2400" dirty="0"/>
              <a:t>“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C7C001-8828-7D5B-6DAF-CCFABB570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73182"/>
            <a:ext cx="8555670" cy="904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200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C5AD4-688D-B7FF-EB01-BA9674EF9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D1a. Copy-Paste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599FF-8A69-955D-FAD2-168F737C1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29448"/>
            <a:ext cx="10515600" cy="116310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Analytical Replication</a:t>
            </a:r>
            <a:r>
              <a:rPr lang="en-US" dirty="0"/>
              <a:t>:  “Attempting to computationally reproduce previous findings using the same numerical data” (p. 117). 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56F2728-22AE-C752-3836-840801FFE0E1}"/>
              </a:ext>
            </a:extLst>
          </p:cNvPr>
          <p:cNvSpPr txBox="1">
            <a:spLocks/>
          </p:cNvSpPr>
          <p:nvPr/>
        </p:nvSpPr>
        <p:spPr>
          <a:xfrm>
            <a:off x="838200" y="1890395"/>
            <a:ext cx="10515600" cy="1739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For D1a. if other terms are used to describe computational reproducibility, please state the terms before the definition.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Example: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4076258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27C5F-2D96-23CA-7B06-B8AAD238F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D2. </a:t>
            </a:r>
            <a:r>
              <a:rPr lang="de-DE" dirty="0" err="1"/>
              <a:t>Contextual</a:t>
            </a:r>
            <a:r>
              <a:rPr lang="de-DE" dirty="0"/>
              <a:t> Variation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B0753-D678-BAF1-7BD6-42F1EE476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02708"/>
          </a:xfrm>
        </p:spPr>
        <p:txBody>
          <a:bodyPr/>
          <a:lstStyle/>
          <a:p>
            <a:r>
              <a:rPr lang="de-DE" dirty="0"/>
              <a:t>D2a.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variation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</a:t>
            </a:r>
            <a:r>
              <a:rPr lang="de-DE" dirty="0" err="1"/>
              <a:t>discuss</a:t>
            </a:r>
            <a:r>
              <a:rPr lang="de-DE" dirty="0"/>
              <a:t>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F0ABA6-7D0F-A65D-8800-A10A68E527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993137"/>
              </p:ext>
            </p:extLst>
          </p:nvPr>
        </p:nvGraphicFramePr>
        <p:xfrm>
          <a:off x="838200" y="2692400"/>
          <a:ext cx="100922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4089">
                  <a:extLst>
                    <a:ext uri="{9D8B030D-6E8A-4147-A177-3AD203B41FA5}">
                      <a16:colId xmlns:a16="http://schemas.microsoft.com/office/drawing/2014/main" val="2154629089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3247285658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2277885477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lang="de-DE" dirty="0"/>
                        <a:t>Ineke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Mehtab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Elisabetta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2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blank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blank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Study design, License, </a:t>
                      </a:r>
                      <a:r>
                        <a:rPr lang="de-DE" dirty="0" err="1"/>
                        <a:t>Programming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language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or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software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793160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942096D-E589-1DFE-45C0-14411EEC11D2}"/>
              </a:ext>
            </a:extLst>
          </p:cNvPr>
          <p:cNvSpPr txBox="1">
            <a:spLocks/>
          </p:cNvSpPr>
          <p:nvPr/>
        </p:nvSpPr>
        <p:spPr>
          <a:xfrm>
            <a:off x="626533" y="4336627"/>
            <a:ext cx="10515600" cy="206586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2400" dirty="0"/>
              <a:t>I </a:t>
            </a:r>
            <a:r>
              <a:rPr lang="de-DE" sz="2400" dirty="0" err="1"/>
              <a:t>made</a:t>
            </a:r>
            <a:r>
              <a:rPr lang="de-DE" sz="2400" dirty="0"/>
              <a:t> </a:t>
            </a:r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mistakes</a:t>
            </a:r>
            <a:r>
              <a:rPr lang="de-DE" sz="2400" dirty="0"/>
              <a:t> in </a:t>
            </a:r>
            <a:r>
              <a:rPr lang="de-DE" sz="2400" dirty="0" err="1"/>
              <a:t>the</a:t>
            </a:r>
            <a:r>
              <a:rPr lang="de-DE" sz="2400" dirty="0"/>
              <a:t> Google Forms:</a:t>
            </a:r>
          </a:p>
          <a:p>
            <a:r>
              <a:rPr lang="de-DE" sz="2400" dirty="0"/>
              <a:t>The form </a:t>
            </a:r>
            <a:r>
              <a:rPr lang="de-DE" sz="2400" dirty="0" err="1"/>
              <a:t>previously</a:t>
            </a:r>
            <a:r>
              <a:rPr lang="de-DE" sz="2400" dirty="0"/>
              <a:t> </a:t>
            </a:r>
            <a:r>
              <a:rPr lang="de-DE" sz="2400" dirty="0" err="1"/>
              <a:t>stated</a:t>
            </a:r>
            <a:r>
              <a:rPr lang="de-DE" sz="2400" dirty="0"/>
              <a:t> „</a:t>
            </a:r>
            <a:r>
              <a:rPr lang="de-DE" sz="2400" dirty="0" err="1"/>
              <a:t>if</a:t>
            </a:r>
            <a:r>
              <a:rPr lang="de-DE" sz="2400" dirty="0"/>
              <a:t> D1 = Yes, </a:t>
            </a:r>
            <a:r>
              <a:rPr lang="de-DE" sz="2400" dirty="0" err="1"/>
              <a:t>complete</a:t>
            </a:r>
            <a:r>
              <a:rPr lang="de-DE" sz="2400" dirty="0"/>
              <a:t> D2,“ </a:t>
            </a:r>
            <a:r>
              <a:rPr lang="de-DE" sz="2400" dirty="0" err="1"/>
              <a:t>while</a:t>
            </a:r>
            <a:r>
              <a:rPr lang="de-DE" sz="2400" dirty="0"/>
              <a:t> in </a:t>
            </a:r>
            <a:r>
              <a:rPr lang="de-DE" sz="2400" dirty="0" err="1"/>
              <a:t>fact</a:t>
            </a:r>
            <a:r>
              <a:rPr lang="de-DE" sz="2400" dirty="0"/>
              <a:t>, </a:t>
            </a:r>
            <a:r>
              <a:rPr lang="de-DE" sz="2400" b="1" i="1" dirty="0">
                <a:solidFill>
                  <a:srgbClr val="FF0000"/>
                </a:solidFill>
              </a:rPr>
              <a:t>D2 </a:t>
            </a:r>
            <a:r>
              <a:rPr lang="de-DE" sz="2400" b="1" i="1" dirty="0" err="1">
                <a:solidFill>
                  <a:srgbClr val="FF0000"/>
                </a:solidFill>
              </a:rPr>
              <a:t>is</a:t>
            </a:r>
            <a:r>
              <a:rPr lang="de-DE" sz="2400" b="1" i="1" dirty="0">
                <a:solidFill>
                  <a:srgbClr val="FF0000"/>
                </a:solidFill>
              </a:rPr>
              <a:t> </a:t>
            </a:r>
            <a:r>
              <a:rPr lang="de-DE" sz="2400" b="1" i="1" dirty="0" err="1">
                <a:solidFill>
                  <a:srgbClr val="FF0000"/>
                </a:solidFill>
              </a:rPr>
              <a:t>completely</a:t>
            </a:r>
            <a:r>
              <a:rPr lang="de-DE" sz="2400" b="1" i="1" dirty="0">
                <a:solidFill>
                  <a:srgbClr val="FF0000"/>
                </a:solidFill>
              </a:rPr>
              <a:t> </a:t>
            </a:r>
            <a:r>
              <a:rPr lang="de-DE" sz="2400" b="1" i="1" dirty="0" err="1">
                <a:solidFill>
                  <a:srgbClr val="FF0000"/>
                </a:solidFill>
              </a:rPr>
              <a:t>independent</a:t>
            </a:r>
            <a:r>
              <a:rPr lang="de-DE" sz="2400" b="1" i="1" dirty="0">
                <a:solidFill>
                  <a:srgbClr val="FF0000"/>
                </a:solidFill>
              </a:rPr>
              <a:t> </a:t>
            </a:r>
            <a:r>
              <a:rPr lang="de-DE" sz="2400" b="1" i="1" dirty="0" err="1">
                <a:solidFill>
                  <a:srgbClr val="FF0000"/>
                </a:solidFill>
              </a:rPr>
              <a:t>from</a:t>
            </a:r>
            <a:r>
              <a:rPr lang="de-DE" sz="2400" b="1" i="1" dirty="0">
                <a:solidFill>
                  <a:srgbClr val="FF0000"/>
                </a:solidFill>
              </a:rPr>
              <a:t> D1</a:t>
            </a:r>
            <a:r>
              <a:rPr lang="de-DE" sz="2400" dirty="0"/>
              <a:t>. </a:t>
            </a:r>
          </a:p>
          <a:p>
            <a:r>
              <a:rPr lang="de-DE" sz="2400" dirty="0" err="1"/>
              <a:t>According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codebook</a:t>
            </a:r>
            <a:r>
              <a:rPr lang="de-DE" sz="2400" dirty="0"/>
              <a:t>, </a:t>
            </a:r>
            <a:r>
              <a:rPr lang="de-DE" sz="2400" dirty="0" err="1"/>
              <a:t>there</a:t>
            </a:r>
            <a:r>
              <a:rPr lang="de-DE" sz="2400" dirty="0"/>
              <a:t> </a:t>
            </a:r>
            <a:r>
              <a:rPr lang="de-DE" sz="2400" dirty="0" err="1"/>
              <a:t>should</a:t>
            </a:r>
            <a:r>
              <a:rPr lang="de-DE" sz="2400" dirty="0"/>
              <a:t> </a:t>
            </a:r>
            <a:r>
              <a:rPr lang="de-DE" sz="2400" dirty="0" err="1"/>
              <a:t>have</a:t>
            </a:r>
            <a:r>
              <a:rPr lang="de-DE" sz="2400" dirty="0"/>
              <a:t> </a:t>
            </a:r>
            <a:r>
              <a:rPr lang="de-DE" sz="2400" dirty="0" err="1"/>
              <a:t>been</a:t>
            </a:r>
            <a:r>
              <a:rPr lang="de-DE" sz="2400" dirty="0"/>
              <a:t> a D2. „</a:t>
            </a:r>
            <a:r>
              <a:rPr lang="en-US" sz="2400" i="1" dirty="0"/>
              <a:t>Does the paper discuss how the meaning or practice of reproducibility varies across different contexts? (Yes/No)</a:t>
            </a:r>
            <a:r>
              <a:rPr lang="de-DE" sz="2400" dirty="0"/>
              <a:t>“ but </a:t>
            </a:r>
            <a:r>
              <a:rPr lang="de-DE" sz="2400" b="1" i="1" dirty="0" err="1"/>
              <a:t>it</a:t>
            </a:r>
            <a:r>
              <a:rPr lang="de-DE" sz="2400" b="1" i="1" dirty="0"/>
              <a:t> </a:t>
            </a:r>
            <a:r>
              <a:rPr lang="de-DE" sz="2400" b="1" i="1" dirty="0" err="1"/>
              <a:t>wasn‘t</a:t>
            </a:r>
            <a:r>
              <a:rPr lang="de-DE" sz="2400" b="1" i="1" dirty="0"/>
              <a:t> </a:t>
            </a:r>
            <a:r>
              <a:rPr lang="de-DE" sz="2400" b="1" i="1" dirty="0" err="1"/>
              <a:t>there</a:t>
            </a:r>
            <a:r>
              <a:rPr lang="de-DE" sz="2400" dirty="0"/>
              <a:t>.</a:t>
            </a:r>
          </a:p>
          <a:p>
            <a:r>
              <a:rPr lang="de-DE" sz="2400" dirty="0"/>
              <a:t>All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these</a:t>
            </a:r>
            <a:r>
              <a:rPr lang="de-DE" sz="2400" dirty="0"/>
              <a:t> </a:t>
            </a:r>
            <a:r>
              <a:rPr lang="de-DE" sz="2400" dirty="0" err="1"/>
              <a:t>mistakes</a:t>
            </a:r>
            <a:r>
              <a:rPr lang="de-DE" sz="2400" dirty="0"/>
              <a:t> </a:t>
            </a:r>
            <a:r>
              <a:rPr lang="de-DE" sz="2400" dirty="0" err="1"/>
              <a:t>have</a:t>
            </a:r>
            <a:r>
              <a:rPr lang="de-DE" sz="2400" dirty="0"/>
              <a:t> </a:t>
            </a:r>
            <a:r>
              <a:rPr lang="de-DE" sz="2400" dirty="0" err="1"/>
              <a:t>been</a:t>
            </a:r>
            <a:r>
              <a:rPr lang="de-DE" sz="2400" dirty="0"/>
              <a:t> </a:t>
            </a:r>
            <a:r>
              <a:rPr lang="de-DE" sz="2400" dirty="0" err="1"/>
              <a:t>fixed</a:t>
            </a:r>
            <a:r>
              <a:rPr lang="de-DE" sz="2400" dirty="0"/>
              <a:t>✅</a:t>
            </a:r>
          </a:p>
        </p:txBody>
      </p:sp>
    </p:spTree>
    <p:extLst>
      <p:ext uri="{BB962C8B-B14F-4D97-AF65-F5344CB8AC3E}">
        <p14:creationId xmlns:p14="http://schemas.microsoft.com/office/powerpoint/2010/main" val="1498853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8D2B5-7DED-072E-9E11-4AC40B20D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59661-592B-D226-36BD-67BDDABE7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D2. </a:t>
            </a:r>
            <a:r>
              <a:rPr lang="de-DE" dirty="0" err="1"/>
              <a:t>Contextual</a:t>
            </a:r>
            <a:r>
              <a:rPr lang="de-DE" dirty="0"/>
              <a:t> Variation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C7B7F-ADF4-4C59-86B9-1183BD654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02708"/>
          </a:xfrm>
        </p:spPr>
        <p:txBody>
          <a:bodyPr/>
          <a:lstStyle/>
          <a:p>
            <a:r>
              <a:rPr lang="de-DE" dirty="0"/>
              <a:t>D2a.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variation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</a:t>
            </a:r>
            <a:r>
              <a:rPr lang="de-DE" dirty="0" err="1"/>
              <a:t>discuss</a:t>
            </a:r>
            <a:r>
              <a:rPr lang="de-DE" dirty="0"/>
              <a:t>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EDDE243-D041-4A8D-FFA9-2DBBAF4C3C9F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692400"/>
          <a:ext cx="100922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4089">
                  <a:extLst>
                    <a:ext uri="{9D8B030D-6E8A-4147-A177-3AD203B41FA5}">
                      <a16:colId xmlns:a16="http://schemas.microsoft.com/office/drawing/2014/main" val="2154629089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3247285658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2277885477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lang="de-DE" dirty="0"/>
                        <a:t>Ineke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Mehtab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Elisabetta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2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blank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blank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Study design, License, </a:t>
                      </a:r>
                      <a:r>
                        <a:rPr lang="de-DE" dirty="0" err="1"/>
                        <a:t>Programming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language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or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software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793160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83BD10B-64BA-9F3C-01BD-3F140E5EC3DC}"/>
              </a:ext>
            </a:extLst>
          </p:cNvPr>
          <p:cNvSpPr txBox="1">
            <a:spLocks/>
          </p:cNvSpPr>
          <p:nvPr/>
        </p:nvSpPr>
        <p:spPr>
          <a:xfrm>
            <a:off x="626533" y="4336627"/>
            <a:ext cx="10515600" cy="20658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de-DE" sz="2400" dirty="0"/>
              <a:t>I also </a:t>
            </a:r>
            <a:r>
              <a:rPr lang="de-DE" sz="2400" dirty="0" err="1"/>
              <a:t>introduce</a:t>
            </a:r>
            <a:r>
              <a:rPr lang="de-DE" sz="2400" dirty="0"/>
              <a:t> a </a:t>
            </a:r>
            <a:r>
              <a:rPr lang="de-DE" sz="2400" dirty="0" err="1"/>
              <a:t>new</a:t>
            </a:r>
            <a:r>
              <a:rPr lang="de-DE" sz="2400" dirty="0"/>
              <a:t> </a:t>
            </a:r>
            <a:r>
              <a:rPr lang="de-DE" sz="2400" dirty="0" err="1"/>
              <a:t>decision</a:t>
            </a:r>
            <a:r>
              <a:rPr lang="de-DE" sz="2400" dirty="0"/>
              <a:t> </a:t>
            </a:r>
            <a:r>
              <a:rPr lang="de-DE" sz="2400" dirty="0" err="1"/>
              <a:t>rule</a:t>
            </a:r>
            <a:r>
              <a:rPr lang="de-DE" sz="2400" dirty="0"/>
              <a:t>:</a:t>
            </a:r>
          </a:p>
          <a:p>
            <a:r>
              <a:rPr lang="en-US" sz="2400" dirty="0"/>
              <a:t>Code only if the paper clearly says reproducibility </a:t>
            </a:r>
            <a:r>
              <a:rPr lang="en-US" sz="2400" b="1" dirty="0"/>
              <a:t>differs across a context</a:t>
            </a:r>
            <a:r>
              <a:rPr lang="en-US" sz="2400" dirty="0"/>
              <a:t>. </a:t>
            </a:r>
          </a:p>
          <a:p>
            <a:r>
              <a:rPr lang="en-US" sz="2400" dirty="0"/>
              <a:t>Therefore, </a:t>
            </a:r>
            <a:r>
              <a:rPr lang="en-US" sz="2400" b="1" dirty="0"/>
              <a:t>only briefly naming a context</a:t>
            </a:r>
            <a:r>
              <a:rPr lang="en-US" sz="2400" dirty="0"/>
              <a:t> (data type, software), </a:t>
            </a:r>
            <a:r>
              <a:rPr lang="en-US" sz="2400" b="1" i="1" dirty="0">
                <a:solidFill>
                  <a:srgbClr val="FF0000"/>
                </a:solidFill>
              </a:rPr>
              <a:t>without arguing</a:t>
            </a:r>
            <a:r>
              <a:rPr lang="en-US" sz="2400" dirty="0"/>
              <a:t> that reproducibility may depend/be different across these contexts is not contextual variation.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495250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3BFC2-7D9E-8E1A-66E8-8FAF4995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E1a. </a:t>
            </a:r>
            <a:r>
              <a:rPr lang="de-DE" dirty="0" err="1"/>
              <a:t>Explicitness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C1D96-E147-33E2-A707-192A271AF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95842"/>
          </a:xfrm>
        </p:spPr>
        <p:txBody>
          <a:bodyPr/>
          <a:lstStyle/>
          <a:p>
            <a:r>
              <a:rPr lang="de-DE" dirty="0"/>
              <a:t>How </a:t>
            </a:r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workflow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guideline</a:t>
            </a:r>
            <a:r>
              <a:rPr lang="de-DE" dirty="0"/>
              <a:t> </a:t>
            </a:r>
            <a:r>
              <a:rPr lang="de-DE" dirty="0" err="1"/>
              <a:t>described</a:t>
            </a:r>
            <a:r>
              <a:rPr lang="de-DE" dirty="0"/>
              <a:t>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DB4FEB-4B69-5D78-77E0-E6D8014008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1834991"/>
              </p:ext>
            </p:extLst>
          </p:nvPr>
        </p:nvGraphicFramePr>
        <p:xfrm>
          <a:off x="838200" y="2692400"/>
          <a:ext cx="10092267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4089">
                  <a:extLst>
                    <a:ext uri="{9D8B030D-6E8A-4147-A177-3AD203B41FA5}">
                      <a16:colId xmlns:a16="http://schemas.microsoft.com/office/drawing/2014/main" val="2154629089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3247285658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2277885477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lang="de-DE" dirty="0"/>
                        <a:t>Ineke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Mehtab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Elisabetta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2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Narrative (</a:t>
                      </a:r>
                      <a:r>
                        <a:rPr lang="de-DE" dirty="0" err="1"/>
                        <a:t>implicit</a:t>
                      </a:r>
                      <a:r>
                        <a:rPr lang="de-DE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Explicit (</a:t>
                      </a:r>
                      <a:r>
                        <a:rPr lang="de-DE" dirty="0" err="1"/>
                        <a:t>step-by-step</a:t>
                      </a:r>
                      <a:r>
                        <a:rPr lang="de-DE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Explicit (</a:t>
                      </a:r>
                      <a:r>
                        <a:rPr lang="de-DE" dirty="0" err="1"/>
                        <a:t>step-by-step</a:t>
                      </a:r>
                      <a:r>
                        <a:rPr lang="de-DE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793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18370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DC848-62F5-1E0D-5F3C-9797AE1F9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E1a: My </a:t>
            </a:r>
            <a:r>
              <a:rPr lang="de-DE" dirty="0" err="1"/>
              <a:t>suggestion</a:t>
            </a:r>
            <a:r>
              <a:rPr lang="de-DE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B9280-5359-1099-05FD-D24358635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62280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/>
              <a:t>Explicit (</a:t>
            </a:r>
            <a:r>
              <a:rPr lang="de-DE" sz="2400" dirty="0" err="1"/>
              <a:t>step-by-step</a:t>
            </a:r>
            <a:r>
              <a:rPr lang="de-DE" sz="2400" dirty="0"/>
              <a:t>),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authors</a:t>
            </a:r>
            <a:r>
              <a:rPr lang="de-DE" sz="2400" dirty="0"/>
              <a:t> </a:t>
            </a:r>
            <a:r>
              <a:rPr lang="de-DE" sz="2400" dirty="0" err="1"/>
              <a:t>provide</a:t>
            </a:r>
            <a:r>
              <a:rPr lang="de-DE" sz="2400" dirty="0"/>
              <a:t> Figure 1 (p. 120).</a:t>
            </a:r>
          </a:p>
          <a:p>
            <a:pPr marL="0" indent="0">
              <a:buNone/>
            </a:pPr>
            <a:r>
              <a:rPr lang="de-DE" sz="2400" dirty="0"/>
              <a:t>I </a:t>
            </a:r>
            <a:r>
              <a:rPr lang="de-DE" sz="2400" dirty="0" err="1"/>
              <a:t>add</a:t>
            </a:r>
            <a:r>
              <a:rPr lang="de-DE" sz="2400" dirty="0"/>
              <a:t> a </a:t>
            </a:r>
            <a:r>
              <a:rPr lang="de-DE" sz="2400" dirty="0" err="1"/>
              <a:t>new</a:t>
            </a:r>
            <a:r>
              <a:rPr lang="de-DE" sz="2400" dirty="0"/>
              <a:t> </a:t>
            </a:r>
            <a:r>
              <a:rPr lang="de-DE" sz="2400" dirty="0" err="1"/>
              <a:t>rule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make</a:t>
            </a:r>
            <a:r>
              <a:rPr lang="de-DE" sz="2400" dirty="0"/>
              <a:t> </a:t>
            </a:r>
            <a:r>
              <a:rPr lang="de-DE" sz="2400" dirty="0" err="1"/>
              <a:t>it</a:t>
            </a:r>
            <a:r>
              <a:rPr lang="de-DE" sz="2400" dirty="0"/>
              <a:t> </a:t>
            </a:r>
            <a:r>
              <a:rPr lang="de-DE" sz="2400" dirty="0" err="1"/>
              <a:t>clearer</a:t>
            </a:r>
            <a:r>
              <a:rPr lang="de-DE" sz="2400" dirty="0"/>
              <a:t>: </a:t>
            </a:r>
          </a:p>
          <a:p>
            <a:pPr marL="0" indent="0">
              <a:buNone/>
            </a:pPr>
            <a:r>
              <a:rPr lang="de-DE" sz="2400" dirty="0"/>
              <a:t>„A </a:t>
            </a:r>
            <a:r>
              <a:rPr lang="de-DE" sz="2400" b="1" i="1" dirty="0" err="1"/>
              <a:t>figure</a:t>
            </a:r>
            <a:r>
              <a:rPr lang="de-DE" sz="2400" dirty="0"/>
              <a:t> </a:t>
            </a:r>
            <a:r>
              <a:rPr lang="de-DE" sz="2400" dirty="0" err="1"/>
              <a:t>or</a:t>
            </a:r>
            <a:r>
              <a:rPr lang="de-DE" sz="2400" dirty="0"/>
              <a:t> a </a:t>
            </a:r>
            <a:r>
              <a:rPr lang="de-DE" sz="2400" b="1" i="1" dirty="0" err="1"/>
              <a:t>table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b="1" i="1" dirty="0" err="1"/>
              <a:t>numbered</a:t>
            </a:r>
            <a:r>
              <a:rPr lang="de-DE" sz="2400" b="1" i="1" dirty="0"/>
              <a:t> </a:t>
            </a:r>
            <a:r>
              <a:rPr lang="de-DE" sz="2400" b="1" i="1" dirty="0" err="1"/>
              <a:t>list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b="1" i="1" dirty="0" err="1"/>
              <a:t>ordered</a:t>
            </a:r>
            <a:r>
              <a:rPr lang="de-DE" sz="2400" b="1" i="1" dirty="0"/>
              <a:t> </a:t>
            </a:r>
            <a:r>
              <a:rPr lang="de-DE" sz="2400" b="1" i="1" dirty="0" err="1"/>
              <a:t>steps</a:t>
            </a:r>
            <a:r>
              <a:rPr lang="de-DE" sz="2400" dirty="0"/>
              <a:t> → </a:t>
            </a:r>
            <a:r>
              <a:rPr lang="de-DE" sz="2400" dirty="0" err="1"/>
              <a:t>Step-by-step</a:t>
            </a:r>
            <a:r>
              <a:rPr lang="de-DE" sz="2400" dirty="0"/>
              <a:t>, </a:t>
            </a:r>
            <a:r>
              <a:rPr lang="de-DE" sz="2400" dirty="0" err="1"/>
              <a:t>even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narrative“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15A774-1E68-2E11-6FCF-CB3018585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996" y="1690688"/>
            <a:ext cx="6790008" cy="381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9102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43316-6646-CC04-18C6-5AC8E8173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E1b and E1d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9A139E-80A8-229F-A095-E50239A994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97087"/>
            <a:ext cx="10515600" cy="553508"/>
          </a:xfrm>
        </p:spPr>
        <p:txBody>
          <a:bodyPr/>
          <a:lstStyle/>
          <a:p>
            <a:r>
              <a:rPr lang="de-DE" dirty="0"/>
              <a:t>E1b.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computational</a:t>
            </a:r>
            <a:r>
              <a:rPr lang="de-DE" dirty="0"/>
              <a:t>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</a:t>
            </a:r>
            <a:r>
              <a:rPr lang="de-DE" b="1" dirty="0" err="1"/>
              <a:t>focus</a:t>
            </a:r>
            <a:r>
              <a:rPr lang="de-DE" b="1" dirty="0"/>
              <a:t> on</a:t>
            </a:r>
            <a:r>
              <a:rPr lang="de-DE" dirty="0"/>
              <a:t>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CD57D9-E654-4765-14BD-B97FD4231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3536022"/>
              </p:ext>
            </p:extLst>
          </p:nvPr>
        </p:nvGraphicFramePr>
        <p:xfrm>
          <a:off x="948264" y="2835803"/>
          <a:ext cx="10092267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4089">
                  <a:extLst>
                    <a:ext uri="{9D8B030D-6E8A-4147-A177-3AD203B41FA5}">
                      <a16:colId xmlns:a16="http://schemas.microsoft.com/office/drawing/2014/main" val="2154629089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3247285658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2277885477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lang="de-DE" dirty="0"/>
                        <a:t>Ineke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Mehtab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Elisabetta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2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Multiple </a:t>
                      </a:r>
                      <a:r>
                        <a:rPr lang="de-DE" dirty="0" err="1"/>
                        <a:t>approaches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Multiple </a:t>
                      </a:r>
                      <a:r>
                        <a:rPr lang="de-DE" dirty="0" err="1"/>
                        <a:t>approaches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</a:t>
                      </a:r>
                      <a:r>
                        <a:rPr lang="de-DE" dirty="0" err="1"/>
                        <a:t>described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793160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65444F6-52D0-079B-B632-E7A0A4E4470E}"/>
              </a:ext>
            </a:extLst>
          </p:cNvPr>
          <p:cNvSpPr txBox="1">
            <a:spLocks/>
          </p:cNvSpPr>
          <p:nvPr/>
        </p:nvSpPr>
        <p:spPr>
          <a:xfrm>
            <a:off x="838200" y="4202114"/>
            <a:ext cx="10515600" cy="553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E1d.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type(s)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</a:t>
            </a:r>
            <a:r>
              <a:rPr lang="de-DE" b="1" dirty="0" err="1"/>
              <a:t>focus</a:t>
            </a:r>
            <a:r>
              <a:rPr lang="de-DE" b="1" dirty="0"/>
              <a:t> on</a:t>
            </a:r>
            <a:r>
              <a:rPr lang="de-DE" dirty="0"/>
              <a:t>?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6A3F71D-09E7-8533-C9F1-504C681099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418129"/>
              </p:ext>
            </p:extLst>
          </p:nvPr>
        </p:nvGraphicFramePr>
        <p:xfrm>
          <a:off x="948263" y="4916489"/>
          <a:ext cx="10092267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4089">
                  <a:extLst>
                    <a:ext uri="{9D8B030D-6E8A-4147-A177-3AD203B41FA5}">
                      <a16:colId xmlns:a16="http://schemas.microsoft.com/office/drawing/2014/main" val="2154629089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3247285658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2277885477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lang="de-DE" dirty="0"/>
                        <a:t>Ineke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Mehtab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Elisabetta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2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Multiple </a:t>
                      </a:r>
                      <a:r>
                        <a:rPr lang="de-DE" dirty="0" err="1"/>
                        <a:t>approaches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Multiple </a:t>
                      </a:r>
                      <a:r>
                        <a:rPr lang="de-DE" dirty="0" err="1"/>
                        <a:t>approaches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</a:t>
                      </a:r>
                      <a:r>
                        <a:rPr lang="de-DE" dirty="0" err="1"/>
                        <a:t>described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793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0583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7EEED-776F-6020-C1F9-D16DDF384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My </a:t>
            </a:r>
            <a:r>
              <a:rPr lang="de-DE" dirty="0" err="1"/>
              <a:t>suggestion</a:t>
            </a:r>
            <a:r>
              <a:rPr lang="de-DE" dirty="0"/>
              <a:t>: E1b and E1d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1A39A-16E4-7B6F-688F-1BF1E3915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393267" cy="4351338"/>
          </a:xfrm>
        </p:spPr>
        <p:txBody>
          <a:bodyPr>
            <a:normAutofit fontScale="92500" lnSpcReduction="10000"/>
          </a:bodyPr>
          <a:lstStyle/>
          <a:p>
            <a:r>
              <a:rPr lang="de-DE" sz="2400" dirty="0"/>
              <a:t>„Not </a:t>
            </a:r>
            <a:r>
              <a:rPr lang="de-DE" sz="2400" dirty="0" err="1"/>
              <a:t>described</a:t>
            </a:r>
            <a:r>
              <a:rPr lang="de-DE" sz="2400" dirty="0"/>
              <a:t>“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both</a:t>
            </a:r>
            <a:endParaRPr lang="de-DE" sz="2400" dirty="0"/>
          </a:p>
          <a:p>
            <a:r>
              <a:rPr lang="de-DE" sz="2400" dirty="0" err="1"/>
              <a:t>Article</a:t>
            </a:r>
            <a:r>
              <a:rPr lang="de-DE" sz="2400" dirty="0"/>
              <a:t> </a:t>
            </a:r>
            <a:r>
              <a:rPr lang="de-DE" sz="2400" dirty="0" err="1"/>
              <a:t>mentions</a:t>
            </a:r>
            <a:r>
              <a:rPr lang="de-DE" sz="2400" dirty="0"/>
              <a:t> </a:t>
            </a:r>
            <a:r>
              <a:rPr lang="de-DE" sz="2400" dirty="0" err="1"/>
              <a:t>briefly</a:t>
            </a:r>
            <a:r>
              <a:rPr lang="de-DE" sz="2400" dirty="0"/>
              <a:t> </a:t>
            </a:r>
            <a:r>
              <a:rPr lang="de-DE" sz="2400" dirty="0" err="1"/>
              <a:t>many</a:t>
            </a:r>
            <a:r>
              <a:rPr lang="de-DE" sz="2400" dirty="0"/>
              <a:t> </a:t>
            </a:r>
            <a:r>
              <a:rPr lang="de-DE" sz="2400" dirty="0" err="1"/>
              <a:t>things</a:t>
            </a:r>
            <a:r>
              <a:rPr lang="de-DE" sz="2400" dirty="0"/>
              <a:t>, but </a:t>
            </a:r>
            <a:r>
              <a:rPr lang="de-DE" sz="2400" dirty="0" err="1"/>
              <a:t>doesn‘t</a:t>
            </a:r>
            <a:r>
              <a:rPr lang="de-DE" sz="2400" dirty="0"/>
              <a:t> </a:t>
            </a:r>
            <a:r>
              <a:rPr lang="de-DE" sz="2400" dirty="0" err="1"/>
              <a:t>mean</a:t>
            </a:r>
            <a:r>
              <a:rPr lang="de-DE" sz="2400" dirty="0"/>
              <a:t> </a:t>
            </a:r>
            <a:r>
              <a:rPr lang="de-DE" sz="2400" dirty="0" err="1"/>
              <a:t>it</a:t>
            </a:r>
            <a:r>
              <a:rPr lang="de-DE" sz="2400" dirty="0"/>
              <a:t> </a:t>
            </a:r>
            <a:r>
              <a:rPr lang="de-DE" sz="2400" dirty="0" err="1"/>
              <a:t>focuses</a:t>
            </a:r>
            <a:r>
              <a:rPr lang="de-DE" sz="2400" dirty="0"/>
              <a:t> on </a:t>
            </a:r>
            <a:r>
              <a:rPr lang="de-DE" sz="2400" dirty="0" err="1"/>
              <a:t>these</a:t>
            </a:r>
            <a:r>
              <a:rPr lang="de-DE" sz="2400" dirty="0"/>
              <a:t> </a:t>
            </a:r>
            <a:r>
              <a:rPr lang="de-DE" sz="2400" dirty="0" err="1"/>
              <a:t>things</a:t>
            </a:r>
            <a:endParaRPr lang="de-DE" sz="2400" dirty="0"/>
          </a:p>
          <a:p>
            <a:r>
              <a:rPr lang="de-DE" sz="2400" dirty="0"/>
              <a:t>I </a:t>
            </a:r>
            <a:r>
              <a:rPr lang="de-DE" sz="2400" dirty="0" err="1"/>
              <a:t>add</a:t>
            </a:r>
            <a:r>
              <a:rPr lang="de-DE" sz="2400" dirty="0"/>
              <a:t> a </a:t>
            </a:r>
            <a:r>
              <a:rPr lang="de-DE" sz="2400" dirty="0" err="1"/>
              <a:t>new</a:t>
            </a:r>
            <a:r>
              <a:rPr lang="de-DE" sz="2400" dirty="0"/>
              <a:t> </a:t>
            </a:r>
            <a:r>
              <a:rPr lang="de-DE" sz="2400" dirty="0" err="1"/>
              <a:t>rule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en-US" sz="2400" dirty="0"/>
              <a:t>“Code data type/computational environment/programming language </a:t>
            </a:r>
            <a:r>
              <a:rPr lang="en-US" sz="2400" b="1" i="1" u="sng" dirty="0">
                <a:solidFill>
                  <a:srgbClr val="FF0000"/>
                </a:solidFill>
              </a:rPr>
              <a:t>only when</a:t>
            </a:r>
            <a:r>
              <a:rPr lang="en-US" sz="2400" dirty="0"/>
              <a:t> the paper actively recommends, adopts, or substantively discusses it”</a:t>
            </a:r>
          </a:p>
          <a:p>
            <a:r>
              <a:rPr lang="en-US" sz="2400" b="1" u="sng" dirty="0">
                <a:solidFill>
                  <a:srgbClr val="FF0000"/>
                </a:solidFill>
              </a:rPr>
              <a:t>Quick test:</a:t>
            </a:r>
            <a:r>
              <a:rPr lang="en-US" sz="2400" dirty="0"/>
              <a:t> would the option still be true if you deleted that one sentence? </a:t>
            </a:r>
            <a:r>
              <a:rPr lang="en-US" sz="2400" b="1" dirty="0"/>
              <a:t>If yes, it is a focus</a:t>
            </a:r>
            <a:r>
              <a:rPr lang="en-US" sz="2400" dirty="0"/>
              <a:t>; if no, it is a brief mention</a:t>
            </a:r>
          </a:p>
          <a:p>
            <a:r>
              <a:rPr lang="en-US" sz="2400" dirty="0"/>
              <a:t>I also deleted “Multiple approaches,” as these </a:t>
            </a:r>
            <a:r>
              <a:rPr lang="en-US" sz="2400"/>
              <a:t>are multi-select items.</a:t>
            </a:r>
            <a:endParaRPr lang="de-D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9CBC9E-A615-F7D1-D92B-46252D8FB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523" y="1621318"/>
            <a:ext cx="4686954" cy="6858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CA9522-36CE-50E5-6092-2C48C4154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717" y="2635583"/>
            <a:ext cx="4829849" cy="543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E39E2C-724A-B5FA-EFEB-D800C5E0C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3654" y="3506954"/>
            <a:ext cx="4686954" cy="8668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0043BF1-39E7-E1D5-5AF5-BDFD98BA1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8717" y="4702220"/>
            <a:ext cx="4772691" cy="7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528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F556-7606-F4A9-DAD1-FB46C7B6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7596A-4B99-ECAB-E080-4331A6AB8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E1e. Automation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FAF3BA-4DE7-AF9E-8C90-5E559D3D6DED}"/>
              </a:ext>
            </a:extLst>
          </p:cNvPr>
          <p:cNvSpPr txBox="1">
            <a:spLocks/>
          </p:cNvSpPr>
          <p:nvPr/>
        </p:nvSpPr>
        <p:spPr>
          <a:xfrm>
            <a:off x="719666" y="1803927"/>
            <a:ext cx="10515600" cy="553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Does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</a:t>
            </a:r>
            <a:r>
              <a:rPr lang="de-DE" dirty="0" err="1"/>
              <a:t>suggest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automated</a:t>
            </a:r>
            <a:r>
              <a:rPr lang="de-DE" dirty="0"/>
              <a:t> </a:t>
            </a:r>
            <a:r>
              <a:rPr lang="de-DE" dirty="0" err="1"/>
              <a:t>checking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reproducibility</a:t>
            </a:r>
            <a:r>
              <a:rPr lang="de-DE" dirty="0"/>
              <a:t>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6D269A0-ED29-0DC2-1EE3-B7FF98A451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16420"/>
              </p:ext>
            </p:extLst>
          </p:nvPr>
        </p:nvGraphicFramePr>
        <p:xfrm>
          <a:off x="838200" y="2546874"/>
          <a:ext cx="10092267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4089">
                  <a:extLst>
                    <a:ext uri="{9D8B030D-6E8A-4147-A177-3AD203B41FA5}">
                      <a16:colId xmlns:a16="http://schemas.microsoft.com/office/drawing/2014/main" val="2154629089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3247285658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2277885477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lang="de-DE" dirty="0"/>
                        <a:t>Ineke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Mehtab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Elisabetta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2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Not </a:t>
                      </a:r>
                      <a:r>
                        <a:rPr lang="de-DE" dirty="0" err="1"/>
                        <a:t>described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Manual </a:t>
                      </a:r>
                      <a:r>
                        <a:rPr lang="de-DE" dirty="0" err="1"/>
                        <a:t>only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Partial </a:t>
                      </a:r>
                      <a:r>
                        <a:rPr lang="de-DE" dirty="0" err="1"/>
                        <a:t>automation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793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6444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BF76F-36D3-B906-9ACD-9D52ABDD9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My </a:t>
            </a:r>
            <a:r>
              <a:rPr lang="de-DE" dirty="0" err="1"/>
              <a:t>suggestion</a:t>
            </a:r>
            <a:r>
              <a:rPr lang="de-DE" dirty="0"/>
              <a:t>: E1e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577DA-4853-2E35-E1FD-FEED305B4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2000" cy="4351338"/>
          </a:xfrm>
        </p:spPr>
        <p:txBody>
          <a:bodyPr/>
          <a:lstStyle/>
          <a:p>
            <a:r>
              <a:rPr lang="de-DE" dirty="0"/>
              <a:t>Manual </a:t>
            </a:r>
            <a:r>
              <a:rPr lang="de-DE" dirty="0" err="1"/>
              <a:t>only</a:t>
            </a:r>
            <a:endParaRPr lang="de-DE" dirty="0"/>
          </a:p>
          <a:p>
            <a:r>
              <a:rPr lang="de-DE" dirty="0"/>
              <a:t>The </a:t>
            </a:r>
            <a:r>
              <a:rPr lang="de-DE" dirty="0" err="1"/>
              <a:t>confusion</a:t>
            </a:r>
            <a:r>
              <a:rPr lang="de-DE" dirty="0"/>
              <a:t> lies in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sentences</a:t>
            </a:r>
            <a:r>
              <a:rPr lang="de-DE" dirty="0"/>
              <a:t> (p. 119 &amp; p. 121) – but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just </a:t>
            </a:r>
            <a:r>
              <a:rPr lang="de-DE" dirty="0" err="1"/>
              <a:t>casual</a:t>
            </a:r>
            <a:r>
              <a:rPr lang="de-DE" dirty="0"/>
              <a:t> </a:t>
            </a:r>
            <a:r>
              <a:rPr lang="de-DE" dirty="0" err="1"/>
              <a:t>mentions</a:t>
            </a:r>
            <a:r>
              <a:rPr lang="de-DE" dirty="0"/>
              <a:t>. </a:t>
            </a:r>
          </a:p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look</a:t>
            </a:r>
            <a:r>
              <a:rPr lang="de-DE" dirty="0"/>
              <a:t> </a:t>
            </a:r>
            <a:r>
              <a:rPr lang="de-DE" dirty="0" err="1"/>
              <a:t>again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workflow</a:t>
            </a:r>
            <a:r>
              <a:rPr lang="de-DE" dirty="0"/>
              <a:t> </a:t>
            </a:r>
            <a:r>
              <a:rPr lang="de-DE" dirty="0" err="1"/>
              <a:t>suggested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authors</a:t>
            </a:r>
            <a:r>
              <a:rPr lang="de-DE" dirty="0"/>
              <a:t>,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fully </a:t>
            </a:r>
            <a:r>
              <a:rPr lang="de-DE" dirty="0" err="1"/>
              <a:t>manual</a:t>
            </a:r>
            <a:r>
              <a:rPr lang="de-DE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B38187-1FA3-2BE1-1D58-A833FB177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2" y="1650010"/>
            <a:ext cx="4725059" cy="7906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46EEBD-1676-8BA9-C766-7A98BE743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4643" y="442739"/>
            <a:ext cx="4839375" cy="9145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4F2B58-6B8B-263B-F120-3968C1CC8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0996" y="2733438"/>
            <a:ext cx="6790008" cy="381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8589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D28C-6AF4-4AEC-371A-32835C2CF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F2. Who Runs </a:t>
            </a:r>
            <a:r>
              <a:rPr lang="de-DE" dirty="0" err="1"/>
              <a:t>the</a:t>
            </a:r>
            <a:r>
              <a:rPr lang="de-DE" dirty="0"/>
              <a:t> Check?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F1118-D044-1CD0-CD39-D6E321D0E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66775"/>
          </a:xfrm>
        </p:spPr>
        <p:txBody>
          <a:bodyPr/>
          <a:lstStyle/>
          <a:p>
            <a:r>
              <a:rPr lang="de-DE" dirty="0"/>
              <a:t>Who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</a:t>
            </a:r>
            <a:r>
              <a:rPr lang="de-DE" dirty="0" err="1"/>
              <a:t>say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perform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reproducibility</a:t>
            </a:r>
            <a:r>
              <a:rPr lang="de-DE" dirty="0"/>
              <a:t> check?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BB80B4-DA21-8282-0A3C-DF387CC394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7122140"/>
              </p:ext>
            </p:extLst>
          </p:nvPr>
        </p:nvGraphicFramePr>
        <p:xfrm>
          <a:off x="838200" y="2926080"/>
          <a:ext cx="10092267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4089">
                  <a:extLst>
                    <a:ext uri="{9D8B030D-6E8A-4147-A177-3AD203B41FA5}">
                      <a16:colId xmlns:a16="http://schemas.microsoft.com/office/drawing/2014/main" val="2154629089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3247285658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2277885477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lang="de-DE" dirty="0"/>
                        <a:t>Ineke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Mehtab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Elisabetta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2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Not </a:t>
                      </a:r>
                      <a:r>
                        <a:rPr lang="de-DE" dirty="0" err="1"/>
                        <a:t>described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Authors</a:t>
                      </a:r>
                      <a:r>
                        <a:rPr lang="de-DE" dirty="0"/>
                        <a:t>, peer-</a:t>
                      </a:r>
                      <a:r>
                        <a:rPr lang="de-DE" dirty="0" err="1"/>
                        <a:t>reviewers</a:t>
                      </a:r>
                      <a:r>
                        <a:rPr lang="de-DE" dirty="0"/>
                        <a:t>, </a:t>
                      </a:r>
                      <a:r>
                        <a:rPr lang="de-DE" dirty="0" err="1"/>
                        <a:t>third</a:t>
                      </a:r>
                      <a:r>
                        <a:rPr lang="de-DE" dirty="0"/>
                        <a:t>-party </a:t>
                      </a:r>
                      <a:r>
                        <a:rPr lang="de-DE" dirty="0" err="1"/>
                        <a:t>reproducers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Third-party </a:t>
                      </a:r>
                      <a:r>
                        <a:rPr lang="de-DE" dirty="0" err="1"/>
                        <a:t>reproducers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793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8636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51C19-71D7-0B56-25F3-DDF180B41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My </a:t>
            </a:r>
            <a:r>
              <a:rPr lang="de-DE" dirty="0" err="1"/>
              <a:t>suggestion</a:t>
            </a:r>
            <a:r>
              <a:rPr lang="de-DE" dirty="0"/>
              <a:t>: F2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B253F-E1AA-BDFC-9E2C-90EC4975D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0000" cy="4351338"/>
          </a:xfrm>
        </p:spPr>
        <p:txBody>
          <a:bodyPr/>
          <a:lstStyle/>
          <a:p>
            <a:r>
              <a:rPr lang="de-DE" dirty="0" err="1"/>
              <a:t>Students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third</a:t>
            </a:r>
            <a:r>
              <a:rPr lang="de-DE" dirty="0"/>
              <a:t>-party </a:t>
            </a:r>
            <a:r>
              <a:rPr lang="de-DE" dirty="0" err="1"/>
              <a:t>reproducers</a:t>
            </a:r>
            <a:endParaRPr lang="de-DE" dirty="0"/>
          </a:p>
          <a:p>
            <a:r>
              <a:rPr lang="de-DE" dirty="0"/>
              <a:t>Classroom </a:t>
            </a:r>
            <a:r>
              <a:rPr lang="de-DE" dirty="0" err="1"/>
              <a:t>peer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 (p. 119) </a:t>
            </a:r>
            <a:r>
              <a:rPr lang="de-DE" dirty="0" err="1"/>
              <a:t>doesn‘t</a:t>
            </a:r>
            <a:r>
              <a:rPr lang="de-DE" dirty="0"/>
              <a:t> </a:t>
            </a:r>
            <a:r>
              <a:rPr lang="de-DE" dirty="0" err="1"/>
              <a:t>refer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peer</a:t>
            </a:r>
            <a:r>
              <a:rPr lang="de-DE" dirty="0"/>
              <a:t> review </a:t>
            </a:r>
            <a:r>
              <a:rPr lang="de-DE" dirty="0" err="1"/>
              <a:t>process</a:t>
            </a:r>
            <a:r>
              <a:rPr lang="de-DE" dirty="0"/>
              <a:t> in a </a:t>
            </a:r>
            <a:r>
              <a:rPr lang="de-DE" dirty="0" err="1"/>
              <a:t>journal</a:t>
            </a:r>
            <a:endParaRPr lang="de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11D954-48EC-07DE-E1F8-53923E277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9758" y="2008505"/>
            <a:ext cx="5966162" cy="112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033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4C912-EE95-DAB1-C6F1-179B2B69E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F3. Timing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A1D5D-DC3F-DC81-357E-7FEC878280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38175"/>
          </a:xfrm>
        </p:spPr>
        <p:txBody>
          <a:bodyPr/>
          <a:lstStyle/>
          <a:p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</a:t>
            </a:r>
            <a:r>
              <a:rPr lang="de-DE" dirty="0" err="1"/>
              <a:t>suggest</a:t>
            </a:r>
            <a:r>
              <a:rPr lang="de-DE" dirty="0"/>
              <a:t> </a:t>
            </a:r>
            <a:r>
              <a:rPr lang="de-DE" dirty="0" err="1"/>
              <a:t>reproducibility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verified</a:t>
            </a:r>
            <a:r>
              <a:rPr lang="de-DE" dirty="0"/>
              <a:t>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45B02EE-D19A-F608-9B7C-A382C696F4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128933"/>
              </p:ext>
            </p:extLst>
          </p:nvPr>
        </p:nvGraphicFramePr>
        <p:xfrm>
          <a:off x="1049866" y="2674937"/>
          <a:ext cx="10092267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4089">
                  <a:extLst>
                    <a:ext uri="{9D8B030D-6E8A-4147-A177-3AD203B41FA5}">
                      <a16:colId xmlns:a16="http://schemas.microsoft.com/office/drawing/2014/main" val="2154629089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3247285658"/>
                    </a:ext>
                  </a:extLst>
                </a:gridCol>
                <a:gridCol w="3364089">
                  <a:extLst>
                    <a:ext uri="{9D8B030D-6E8A-4147-A177-3AD203B41FA5}">
                      <a16:colId xmlns:a16="http://schemas.microsoft.com/office/drawing/2014/main" val="2277885477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lang="de-DE" dirty="0"/>
                        <a:t>Ineke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Mehtab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Elisabetta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22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Not </a:t>
                      </a:r>
                      <a:r>
                        <a:rPr lang="de-DE" dirty="0" err="1"/>
                        <a:t>described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Before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submission</a:t>
                      </a:r>
                      <a:r>
                        <a:rPr lang="de-DE" dirty="0"/>
                        <a:t>, after </a:t>
                      </a:r>
                      <a:r>
                        <a:rPr lang="de-DE" dirty="0" err="1"/>
                        <a:t>publication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After </a:t>
                      </a:r>
                      <a:r>
                        <a:rPr lang="de-DE" dirty="0" err="1"/>
                        <a:t>publication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793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8532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0E237-E76E-BBD1-F031-8F434CA1F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My </a:t>
            </a:r>
            <a:r>
              <a:rPr lang="de-DE" dirty="0" err="1"/>
              <a:t>suggestion</a:t>
            </a:r>
            <a:r>
              <a:rPr lang="de-DE" dirty="0"/>
              <a:t>: F3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BB2AA-098D-5D8F-2872-6B85E3F4FA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0400" cy="4351338"/>
          </a:xfrm>
        </p:spPr>
        <p:txBody>
          <a:bodyPr/>
          <a:lstStyle/>
          <a:p>
            <a:r>
              <a:rPr lang="de-DE" dirty="0"/>
              <a:t>After </a:t>
            </a:r>
            <a:r>
              <a:rPr lang="de-DE" dirty="0" err="1"/>
              <a:t>publication</a:t>
            </a:r>
            <a:endParaRPr lang="de-DE" dirty="0"/>
          </a:p>
          <a:p>
            <a:r>
              <a:rPr lang="en-US" dirty="0"/>
              <a:t>Students reproduce already-published studies, so verification is inherently post-publication.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82ADCC-244B-49CA-8914-A23916584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8990" y="2107077"/>
            <a:ext cx="4686954" cy="9335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F481B4-24E4-1380-41B4-245AD2FAE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8990" y="3204748"/>
            <a:ext cx="4734586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447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69926-C939-73FE-F241-33CDEC56B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Conclusions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63F96-2C6A-DAC0-E435-FE420AB32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/>
              <a:t>Always code </a:t>
            </a:r>
            <a:r>
              <a:rPr lang="de-DE" sz="2400" dirty="0" err="1"/>
              <a:t>reproducibility</a:t>
            </a:r>
            <a:r>
              <a:rPr lang="de-DE" sz="2400" dirty="0"/>
              <a:t> </a:t>
            </a:r>
            <a:r>
              <a:rPr lang="de-DE" sz="2400" dirty="0" err="1"/>
              <a:t>definition</a:t>
            </a:r>
            <a:r>
              <a:rPr lang="de-DE" sz="2400" dirty="0"/>
              <a:t> („</a:t>
            </a:r>
            <a:r>
              <a:rPr lang="de-DE" sz="2400" b="1" dirty="0"/>
              <a:t>same </a:t>
            </a:r>
            <a:r>
              <a:rPr lang="de-DE" sz="2400" b="1" dirty="0" err="1"/>
              <a:t>data</a:t>
            </a:r>
            <a:r>
              <a:rPr lang="de-DE" sz="2400" b="1" dirty="0"/>
              <a:t>, same </a:t>
            </a:r>
            <a:r>
              <a:rPr lang="de-DE" sz="2400" b="1" dirty="0" err="1"/>
              <a:t>methods</a:t>
            </a:r>
            <a:r>
              <a:rPr lang="de-DE" sz="2400" b="1" dirty="0"/>
              <a:t>/code/</a:t>
            </a:r>
            <a:r>
              <a:rPr lang="de-DE" sz="2400" b="1" dirty="0" err="1"/>
              <a:t>analysis</a:t>
            </a:r>
            <a:r>
              <a:rPr lang="de-DE" sz="2400" dirty="0"/>
              <a:t>“), </a:t>
            </a:r>
            <a:r>
              <a:rPr lang="de-DE" sz="2400" dirty="0" err="1"/>
              <a:t>even</a:t>
            </a:r>
            <a:r>
              <a:rPr lang="de-DE" sz="2400" dirty="0"/>
              <a:t> </a:t>
            </a:r>
            <a:r>
              <a:rPr lang="de-DE" sz="2400" dirty="0" err="1"/>
              <a:t>though</a:t>
            </a:r>
            <a:r>
              <a:rPr lang="de-DE" sz="2400" dirty="0"/>
              <a:t> </a:t>
            </a:r>
            <a:r>
              <a:rPr lang="de-DE" sz="2400" dirty="0" err="1"/>
              <a:t>it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labelled</a:t>
            </a:r>
            <a:r>
              <a:rPr lang="de-DE" sz="2400" dirty="0"/>
              <a:t> </a:t>
            </a:r>
            <a:r>
              <a:rPr lang="de-DE" sz="2400" dirty="0" err="1"/>
              <a:t>under</a:t>
            </a:r>
            <a:r>
              <a:rPr lang="de-DE" sz="2400" dirty="0"/>
              <a:t> different </a:t>
            </a:r>
            <a:r>
              <a:rPr lang="de-DE" sz="2400" dirty="0" err="1"/>
              <a:t>terms</a:t>
            </a:r>
            <a:r>
              <a:rPr lang="de-DE" sz="2400" dirty="0"/>
              <a:t>.</a:t>
            </a:r>
          </a:p>
          <a:p>
            <a:r>
              <a:rPr lang="de-DE" sz="2400" dirty="0" err="1"/>
              <a:t>For</a:t>
            </a:r>
            <a:r>
              <a:rPr lang="de-DE" sz="2400" dirty="0"/>
              <a:t> multi-</a:t>
            </a:r>
            <a:r>
              <a:rPr lang="de-DE" sz="2400" dirty="0" err="1"/>
              <a:t>select</a:t>
            </a:r>
            <a:r>
              <a:rPr lang="de-DE" sz="2400" dirty="0"/>
              <a:t> </a:t>
            </a:r>
            <a:r>
              <a:rPr lang="de-DE" sz="2400" dirty="0" err="1"/>
              <a:t>items</a:t>
            </a:r>
            <a:r>
              <a:rPr lang="de-DE" sz="2400" dirty="0"/>
              <a:t>, I </a:t>
            </a:r>
            <a:r>
              <a:rPr lang="de-DE" sz="2400" dirty="0" err="1"/>
              <a:t>deleted</a:t>
            </a:r>
            <a:r>
              <a:rPr lang="de-DE" sz="2400" dirty="0"/>
              <a:t> „Multiple“ </a:t>
            </a:r>
            <a:r>
              <a:rPr lang="de-DE" sz="2400" dirty="0" err="1"/>
              <a:t>as</a:t>
            </a:r>
            <a:r>
              <a:rPr lang="de-DE" sz="2400" dirty="0"/>
              <a:t> an </a:t>
            </a:r>
            <a:r>
              <a:rPr lang="de-DE" sz="2400" dirty="0" err="1"/>
              <a:t>option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avoid</a:t>
            </a:r>
            <a:r>
              <a:rPr lang="de-DE" sz="2400" dirty="0"/>
              <a:t> </a:t>
            </a:r>
            <a:r>
              <a:rPr lang="de-DE" sz="2400" dirty="0" err="1"/>
              <a:t>confusion</a:t>
            </a:r>
            <a:r>
              <a:rPr lang="de-DE" sz="2400" dirty="0"/>
              <a:t>.</a:t>
            </a:r>
          </a:p>
          <a:p>
            <a:r>
              <a:rPr lang="de-DE" sz="2400" dirty="0"/>
              <a:t>Threshold </a:t>
            </a:r>
            <a:r>
              <a:rPr lang="de-DE" sz="2400" dirty="0" err="1"/>
              <a:t>of</a:t>
            </a:r>
            <a:r>
              <a:rPr lang="de-DE" sz="2400" dirty="0"/>
              <a:t> „Focus“ –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paper</a:t>
            </a:r>
            <a:r>
              <a:rPr lang="de-DE" sz="2400" dirty="0"/>
              <a:t> </a:t>
            </a:r>
            <a:r>
              <a:rPr lang="de-DE" sz="2400" dirty="0" err="1"/>
              <a:t>only</a:t>
            </a:r>
            <a:r>
              <a:rPr lang="de-DE" sz="2400" dirty="0"/>
              <a:t> </a:t>
            </a:r>
            <a:r>
              <a:rPr lang="de-DE" sz="2400" dirty="0" err="1"/>
              <a:t>briefly</a:t>
            </a:r>
            <a:r>
              <a:rPr lang="de-DE" sz="2400" dirty="0"/>
              <a:t> </a:t>
            </a:r>
            <a:r>
              <a:rPr lang="de-DE" sz="2400" dirty="0" err="1"/>
              <a:t>mentions</a:t>
            </a:r>
            <a:r>
              <a:rPr lang="de-DE" sz="2400" dirty="0"/>
              <a:t> </a:t>
            </a:r>
            <a:r>
              <a:rPr lang="de-DE" sz="2400" dirty="0" err="1"/>
              <a:t>about</a:t>
            </a:r>
            <a:r>
              <a:rPr lang="de-DE" sz="2400" dirty="0"/>
              <a:t> </a:t>
            </a:r>
            <a:r>
              <a:rPr lang="de-DE" sz="2400" dirty="0" err="1"/>
              <a:t>something</a:t>
            </a:r>
            <a:r>
              <a:rPr lang="de-DE" sz="2400" dirty="0"/>
              <a:t>, </a:t>
            </a:r>
            <a:r>
              <a:rPr lang="de-DE" sz="2400" dirty="0" err="1"/>
              <a:t>it</a:t>
            </a:r>
            <a:r>
              <a:rPr lang="de-DE" sz="2400" dirty="0"/>
              <a:t> </a:t>
            </a:r>
            <a:r>
              <a:rPr lang="de-DE" sz="2400" dirty="0" err="1"/>
              <a:t>doesn‘t</a:t>
            </a:r>
            <a:r>
              <a:rPr lang="de-DE" sz="2400" dirty="0"/>
              <a:t> </a:t>
            </a:r>
            <a:r>
              <a:rPr lang="de-DE" sz="2400" dirty="0" err="1"/>
              <a:t>mean</a:t>
            </a:r>
            <a:r>
              <a:rPr lang="de-DE" sz="2400" dirty="0"/>
              <a:t> </a:t>
            </a:r>
            <a:r>
              <a:rPr lang="de-DE" sz="2400" dirty="0" err="1"/>
              <a:t>it</a:t>
            </a:r>
            <a:r>
              <a:rPr lang="de-DE" sz="2400" dirty="0"/>
              <a:t> </a:t>
            </a:r>
            <a:r>
              <a:rPr lang="de-DE" sz="2400" dirty="0" err="1"/>
              <a:t>focuses</a:t>
            </a:r>
            <a:r>
              <a:rPr lang="de-DE" sz="2400" dirty="0"/>
              <a:t> on </a:t>
            </a:r>
            <a:r>
              <a:rPr lang="de-DE" sz="2400" dirty="0" err="1"/>
              <a:t>this</a:t>
            </a:r>
            <a:r>
              <a:rPr lang="de-DE" sz="2400" dirty="0"/>
              <a:t> </a:t>
            </a:r>
            <a:r>
              <a:rPr lang="de-DE" sz="2400" dirty="0" err="1"/>
              <a:t>thing</a:t>
            </a:r>
            <a:r>
              <a:rPr lang="de-DE" sz="2400" dirty="0"/>
              <a:t>.</a:t>
            </a:r>
          </a:p>
          <a:p>
            <a:r>
              <a:rPr lang="de-DE" sz="2400" dirty="0" err="1"/>
              <a:t>Please</a:t>
            </a:r>
            <a:r>
              <a:rPr lang="de-DE" sz="2400" dirty="0"/>
              <a:t> do </a:t>
            </a:r>
            <a:r>
              <a:rPr lang="de-DE" sz="2400" dirty="0" err="1"/>
              <a:t>use</a:t>
            </a:r>
            <a:r>
              <a:rPr lang="de-DE" sz="2400" dirty="0"/>
              <a:t> AI! </a:t>
            </a:r>
            <a:r>
              <a:rPr lang="de-DE" sz="2400" dirty="0" err="1"/>
              <a:t>It</a:t>
            </a:r>
            <a:r>
              <a:rPr lang="de-DE" sz="2400" dirty="0"/>
              <a:t> </a:t>
            </a:r>
            <a:r>
              <a:rPr lang="de-DE" sz="2400" dirty="0" err="1"/>
              <a:t>helps</a:t>
            </a:r>
            <a:r>
              <a:rPr lang="de-DE" sz="2400" dirty="0"/>
              <a:t> </a:t>
            </a:r>
            <a:r>
              <a:rPr lang="de-DE" sz="2400" dirty="0" err="1"/>
              <a:t>you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efficiently</a:t>
            </a:r>
            <a:r>
              <a:rPr lang="de-DE" sz="2400" dirty="0"/>
              <a:t> </a:t>
            </a:r>
            <a:r>
              <a:rPr lang="de-DE" sz="2400" dirty="0" err="1"/>
              <a:t>locate</a:t>
            </a:r>
            <a:r>
              <a:rPr lang="de-DE" sz="2400" dirty="0"/>
              <a:t> </a:t>
            </a:r>
            <a:r>
              <a:rPr lang="de-DE" sz="2400" dirty="0" err="1"/>
              <a:t>information</a:t>
            </a:r>
            <a:r>
              <a:rPr lang="de-DE" sz="2400" dirty="0"/>
              <a:t> in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paper</a:t>
            </a:r>
            <a:r>
              <a:rPr lang="de-DE" sz="2400" dirty="0"/>
              <a:t>.</a:t>
            </a:r>
          </a:p>
          <a:p>
            <a:pPr lvl="1"/>
            <a:r>
              <a:rPr lang="de-DE" sz="2000" dirty="0"/>
              <a:t>Do </a:t>
            </a:r>
            <a:r>
              <a:rPr lang="de-DE" sz="2000" dirty="0" err="1"/>
              <a:t>you</a:t>
            </a:r>
            <a:r>
              <a:rPr lang="de-DE" sz="2000" dirty="0"/>
              <a:t> </a:t>
            </a:r>
            <a:r>
              <a:rPr lang="de-DE" sz="2000" dirty="0" err="1"/>
              <a:t>already</a:t>
            </a:r>
            <a:r>
              <a:rPr lang="de-DE" sz="2000" dirty="0"/>
              <a:t> </a:t>
            </a:r>
            <a:r>
              <a:rPr lang="de-DE" sz="2000" dirty="0" err="1"/>
              <a:t>have</a:t>
            </a:r>
            <a:r>
              <a:rPr lang="de-DE" sz="2000" dirty="0"/>
              <a:t> an </a:t>
            </a:r>
            <a:r>
              <a:rPr lang="de-DE" sz="2000" dirty="0" err="1"/>
              <a:t>access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</a:t>
            </a:r>
            <a:r>
              <a:rPr lang="de-DE" sz="2000" dirty="0" err="1"/>
              <a:t>any</a:t>
            </a:r>
            <a:r>
              <a:rPr lang="de-DE" sz="2000" dirty="0"/>
              <a:t> pro AI </a:t>
            </a:r>
            <a:r>
              <a:rPr lang="de-DE" sz="2000" dirty="0" err="1"/>
              <a:t>account</a:t>
            </a:r>
            <a:r>
              <a:rPr lang="de-DE" sz="2000" dirty="0"/>
              <a:t>? </a:t>
            </a:r>
            <a:r>
              <a:rPr lang="de-DE" sz="2000" dirty="0" err="1"/>
              <a:t>If</a:t>
            </a:r>
            <a:r>
              <a:rPr lang="de-DE" sz="2000" dirty="0"/>
              <a:t> not, I will </a:t>
            </a:r>
            <a:r>
              <a:rPr lang="de-DE" sz="2000" dirty="0" err="1"/>
              <a:t>discuss</a:t>
            </a:r>
            <a:r>
              <a:rPr lang="de-DE" sz="2000" dirty="0"/>
              <a:t> </a:t>
            </a:r>
            <a:r>
              <a:rPr lang="de-DE" sz="2000" dirty="0" err="1"/>
              <a:t>it</a:t>
            </a:r>
            <a:r>
              <a:rPr lang="de-DE" sz="2000" dirty="0"/>
              <a:t> </a:t>
            </a:r>
            <a:r>
              <a:rPr lang="de-DE" sz="2000" dirty="0" err="1"/>
              <a:t>with</a:t>
            </a:r>
            <a:r>
              <a:rPr lang="de-DE" sz="2000" dirty="0"/>
              <a:t> Johannes, Arnim, </a:t>
            </a:r>
            <a:r>
              <a:rPr lang="de-DE" sz="2000" dirty="0" err="1"/>
              <a:t>or</a:t>
            </a:r>
            <a:r>
              <a:rPr lang="de-DE" sz="2000" dirty="0"/>
              <a:t> Gunther/Jörg.</a:t>
            </a:r>
            <a:endParaRPr lang="de-DE" sz="2400" dirty="0"/>
          </a:p>
          <a:p>
            <a:r>
              <a:rPr lang="de-DE" sz="2400" dirty="0" err="1"/>
              <a:t>Codebook</a:t>
            </a:r>
            <a:r>
              <a:rPr lang="de-DE" sz="2400" dirty="0"/>
              <a:t> v2 </a:t>
            </a:r>
            <a:r>
              <a:rPr lang="de-DE" sz="2400" dirty="0" err="1"/>
              <a:t>has</a:t>
            </a:r>
            <a:r>
              <a:rPr lang="de-DE" sz="2400" dirty="0"/>
              <a:t> </a:t>
            </a:r>
            <a:r>
              <a:rPr lang="de-DE" sz="2400" dirty="0" err="1"/>
              <a:t>been</a:t>
            </a:r>
            <a:r>
              <a:rPr lang="de-DE" sz="2400" dirty="0"/>
              <a:t> </a:t>
            </a:r>
            <a:r>
              <a:rPr lang="de-DE" sz="2400" dirty="0" err="1"/>
              <a:t>improved</a:t>
            </a:r>
            <a:r>
              <a:rPr lang="de-DE" sz="2400" dirty="0"/>
              <a:t> and </a:t>
            </a:r>
            <a:r>
              <a:rPr lang="de-DE" sz="2400" dirty="0" err="1"/>
              <a:t>has</a:t>
            </a:r>
            <a:r>
              <a:rPr lang="de-DE" sz="2400" dirty="0"/>
              <a:t> </a:t>
            </a:r>
            <a:r>
              <a:rPr lang="de-DE" sz="2400" dirty="0" err="1"/>
              <a:t>everything</a:t>
            </a:r>
            <a:r>
              <a:rPr lang="de-DE" sz="2400" dirty="0"/>
              <a:t> </a:t>
            </a:r>
            <a:r>
              <a:rPr lang="de-DE" sz="2400" dirty="0" err="1"/>
              <a:t>you</a:t>
            </a:r>
            <a:r>
              <a:rPr lang="de-DE" sz="2400" dirty="0"/>
              <a:t> </a:t>
            </a:r>
            <a:r>
              <a:rPr lang="de-DE" sz="2400" dirty="0" err="1"/>
              <a:t>need</a:t>
            </a:r>
            <a:r>
              <a:rPr lang="de-DE" sz="2400" dirty="0"/>
              <a:t>.</a:t>
            </a:r>
          </a:p>
          <a:p>
            <a:pPr lvl="1"/>
            <a:r>
              <a:rPr lang="de-DE" sz="2000" dirty="0" err="1"/>
              <a:t>When</a:t>
            </a:r>
            <a:r>
              <a:rPr lang="de-DE" sz="2000" dirty="0"/>
              <a:t> in </a:t>
            </a:r>
            <a:r>
              <a:rPr lang="de-DE" sz="2000" dirty="0" err="1"/>
              <a:t>doubt</a:t>
            </a:r>
            <a:r>
              <a:rPr lang="de-DE" sz="2000" dirty="0"/>
              <a:t>, </a:t>
            </a:r>
            <a:r>
              <a:rPr lang="de-DE" sz="2000" dirty="0" err="1"/>
              <a:t>please</a:t>
            </a:r>
            <a:r>
              <a:rPr lang="de-DE" sz="2000" dirty="0"/>
              <a:t> check </a:t>
            </a:r>
            <a:r>
              <a:rPr lang="de-DE" sz="2000" dirty="0" err="1"/>
              <a:t>the</a:t>
            </a:r>
            <a:r>
              <a:rPr lang="de-DE" sz="2000" dirty="0"/>
              <a:t> </a:t>
            </a:r>
            <a:r>
              <a:rPr lang="de-DE" sz="2000" dirty="0" err="1"/>
              <a:t>codebook</a:t>
            </a:r>
            <a:r>
              <a:rPr lang="de-DE" sz="2000" dirty="0"/>
              <a:t> </a:t>
            </a:r>
            <a:r>
              <a:rPr lang="de-DE" sz="2000" dirty="0" err="1"/>
              <a:t>again</a:t>
            </a:r>
            <a:r>
              <a:rPr lang="de-DE" sz="2000" dirty="0"/>
              <a:t>.</a:t>
            </a:r>
          </a:p>
          <a:p>
            <a:pPr lvl="1"/>
            <a:r>
              <a:rPr lang="de-DE" sz="2000" dirty="0"/>
              <a:t>…and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course</a:t>
            </a:r>
            <a:r>
              <a:rPr lang="de-DE" sz="2000" dirty="0"/>
              <a:t>, </a:t>
            </a:r>
            <a:r>
              <a:rPr lang="de-DE" sz="2000" dirty="0" err="1"/>
              <a:t>I‘m</a:t>
            </a:r>
            <a:r>
              <a:rPr lang="de-DE" sz="2000" dirty="0"/>
              <a:t> </a:t>
            </a:r>
            <a:r>
              <a:rPr lang="de-DE" sz="2000" dirty="0" err="1"/>
              <a:t>always</a:t>
            </a:r>
            <a:r>
              <a:rPr lang="de-DE" sz="2000" dirty="0"/>
              <a:t> </a:t>
            </a:r>
            <a:r>
              <a:rPr lang="de-DE" sz="2000" dirty="0" err="1"/>
              <a:t>available</a:t>
            </a:r>
            <a:r>
              <a:rPr lang="de-DE" sz="2000" dirty="0"/>
              <a:t> </a:t>
            </a:r>
            <a:r>
              <a:rPr lang="de-DE" sz="2000" dirty="0" err="1"/>
              <a:t>when</a:t>
            </a:r>
            <a:r>
              <a:rPr lang="de-DE" sz="2000" dirty="0"/>
              <a:t> </a:t>
            </a:r>
            <a:r>
              <a:rPr lang="de-DE" sz="2000" dirty="0" err="1"/>
              <a:t>you</a:t>
            </a:r>
            <a:r>
              <a:rPr lang="de-DE" sz="2000" dirty="0"/>
              <a:t> </a:t>
            </a:r>
            <a:r>
              <a:rPr lang="de-DE" sz="2000" dirty="0" err="1"/>
              <a:t>have</a:t>
            </a:r>
            <a:r>
              <a:rPr lang="de-DE" sz="2000" dirty="0"/>
              <a:t> </a:t>
            </a:r>
            <a:r>
              <a:rPr lang="de-DE" sz="2000" dirty="0" err="1"/>
              <a:t>any</a:t>
            </a:r>
            <a:r>
              <a:rPr lang="de-DE" sz="2000" dirty="0"/>
              <a:t> </a:t>
            </a:r>
            <a:r>
              <a:rPr lang="de-DE" sz="2000" dirty="0" err="1"/>
              <a:t>questions</a:t>
            </a:r>
            <a:r>
              <a:rPr lang="de-DE" sz="2000"/>
              <a:t>.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4656639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BDA61-78CE-CBFD-91A2-23C3B6D05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643A1-DD62-739E-C5DC-437A42CF45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Happy </a:t>
            </a:r>
            <a:r>
              <a:rPr lang="de-DE" dirty="0" err="1"/>
              <a:t>coding</a:t>
            </a:r>
            <a:r>
              <a:rPr lang="de-DE" dirty="0"/>
              <a:t>!☺️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C7813E-9787-FE48-2E30-6FB60A3C4B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57343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1169</Words>
  <Application>Microsoft Office PowerPoint</Application>
  <PresentationFormat>Widescreen</PresentationFormat>
  <Paragraphs>151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Synchronization Meeting</vt:lpstr>
      <vt:lpstr>Purpose of the meeting</vt:lpstr>
      <vt:lpstr>C1. Primary Contribution</vt:lpstr>
      <vt:lpstr>C1 &amp; C2: My suggestions</vt:lpstr>
      <vt:lpstr>D1. Reproducibility Definition</vt:lpstr>
      <vt:lpstr>D1. Reproducibility Definition</vt:lpstr>
      <vt:lpstr>D1a. Copy-Paste Definition</vt:lpstr>
      <vt:lpstr>D2. Contextual Variation</vt:lpstr>
      <vt:lpstr>D2. Contextual Variation</vt:lpstr>
      <vt:lpstr>E1a. Explicitness of Workflow</vt:lpstr>
      <vt:lpstr>E1a: My suggestion </vt:lpstr>
      <vt:lpstr>E1b and E1d</vt:lpstr>
      <vt:lpstr>My suggestion: E1b and E1d</vt:lpstr>
      <vt:lpstr>E1e. Automation</vt:lpstr>
      <vt:lpstr>My suggestion: E1e</vt:lpstr>
      <vt:lpstr>F2. Who Runs the Check?</vt:lpstr>
      <vt:lpstr>My suggestion: F2</vt:lpstr>
      <vt:lpstr>F3. Timing</vt:lpstr>
      <vt:lpstr>My suggestion: F3</vt:lpstr>
      <vt:lpstr>Conclusions</vt:lpstr>
      <vt:lpstr>Happy coding!☺️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Rizqy Amelia Zein</dc:creator>
  <cp:lastModifiedBy>Dr. Rizqy Amelia Zein</cp:lastModifiedBy>
  <cp:revision>109</cp:revision>
  <dcterms:created xsi:type="dcterms:W3CDTF">2026-06-08T06:00:11Z</dcterms:created>
  <dcterms:modified xsi:type="dcterms:W3CDTF">2026-06-08T13:55:33Z</dcterms:modified>
</cp:coreProperties>
</file>